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675"/>
  </p:normalViewPr>
  <p:slideViewPr>
    <p:cSldViewPr snapToGrid="0">
      <p:cViewPr varScale="1">
        <p:scale>
          <a:sx n="111" d="100"/>
          <a:sy n="111" d="100"/>
        </p:scale>
        <p:origin x="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223BA-CA16-D472-57B5-98797D0E7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3E0AB-96EB-15A3-73F5-AE9B2D8F3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28EA9-4867-7F4D-EF27-9D0D132A0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7ECDE-C93C-4264-E03B-5B93DAB56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E4202-1B6E-F66A-1111-5C19DD535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156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F5D8-105B-0DE3-AD91-B800614D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6C19F-125F-4837-CED0-EA91156CE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B4056-561F-0E5A-A1D6-61C40D5E8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105E8-D25F-61D4-AB1E-D0C5C56E7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79E06-546D-D0B1-B573-FADA6DE24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14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B963-FBF8-A48C-DE1E-25DC76BD1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13B5B-DEBE-134C-8232-99B70FF25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1EF1BF-7E66-DE8D-554C-3D443E8B1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A62A9-ABF9-E889-5E73-4D2C244F9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B117B-9911-DE12-0EEF-E1AAF5CF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868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BCA2-088A-3A5B-24E5-2F5C0003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97F1-0F3C-8151-EB5F-DB509207AC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D88263-B60B-082A-1D1A-5558058C2C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37C66F-AC98-C93F-55AA-CE9E275E7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767F15-7678-2683-A269-0E08FDD69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50B4-0A2F-EE7B-E27A-D68A0DE58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524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F04E2-889E-35DA-6B11-E2FC3BDDA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F5341-3BE8-B587-C16A-A36B044C80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0351C6-4C79-8768-B7FD-8223606625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78393-92A5-4BFB-F8FD-E601C0A298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D2C2DD-B77B-90A7-D60E-75A7A1D8B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4A11B-ED37-17BC-EA84-B3E35644D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30E04E-7705-30B6-8746-9FCD4690B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D529B4-8238-3D1F-77B7-6CA1A7E2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453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83C1-2050-8FFA-E5CB-E070931A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3C2C09-BA04-FAAD-FD1E-1FD124D46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7E01C-C875-10D8-C477-78FE48D12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51490-9AE5-FD18-90E1-2D729EE1E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487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0316B9-8349-505F-A645-6A5A397AE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3E3BE7-E543-FB33-CAF5-2BE232664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CE841-226E-A018-6037-FE658490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D8590-4AD9-28A3-5734-41B0FE7A1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F3365-6F03-99F7-4C67-C46C78898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5755C-C8CE-309E-BDED-35D481E25C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5C73EF-C6D0-C67F-BDD5-E47558F98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AD87D9-309B-B6E0-C29F-CD7DC37C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A646A-29C9-1348-9BAE-C5D8AA2D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417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D5218-891A-2E69-BE5A-1BA15BB94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B442F4-6A89-4EE8-DB57-F420EAB9F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EAF94A-8B4F-7FAE-3E0F-C04B3B63B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28D651-8C80-7A8C-F325-C1BADECBE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5D9A7-1EDE-5E01-C3AA-5FB91F5F9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EE8EC-F277-3491-416C-D0031FF2B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78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201C9-76E8-1577-4717-AD2EEA647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BB952E-687A-5937-F324-E124EF74AE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7E925-1C6B-A72D-57F3-14793EC53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3E59D-C715-6BDD-36A5-61114A3A2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6C4D-D8A1-5DA4-20CC-0042F1CC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25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FC6B84-BC6B-1A99-3F72-68EDF1EA3A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046E6E-8771-B068-153A-A4CBC7B348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6A06D-CE64-FC6C-BE77-83F41DC4B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30B40-7368-5FE7-F171-B57EBFA71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AF9F6-22C1-DBAB-E10B-17EF4EBE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17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942D68-BF44-6E99-FE16-61CAEDE0B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76E8C-712D-14A8-A4EB-7D87C9279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A8C19-C386-3B05-D603-1DACA35CF9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49D602-AEB9-1546-814D-336A3033BA93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D92B3-55B0-C406-60F1-8F21D9E1C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4B7611-8CE3-8FFF-9D50-69194C95E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0AA4C5-FFC1-E34D-99EC-5D529C0850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950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BCFB04-330A-930F-BD18-0877B775DC49}"/>
              </a:ext>
            </a:extLst>
          </p:cNvPr>
          <p:cNvCxnSpPr>
            <a:cxnSpLocks/>
          </p:cNvCxnSpPr>
          <p:nvPr/>
        </p:nvCxnSpPr>
        <p:spPr>
          <a:xfrm>
            <a:off x="1352922" y="1348740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F67861-0EAC-71A2-1474-DF22F8EF1724}"/>
              </a:ext>
            </a:extLst>
          </p:cNvPr>
          <p:cNvCxnSpPr>
            <a:cxnSpLocks/>
          </p:cNvCxnSpPr>
          <p:nvPr/>
        </p:nvCxnSpPr>
        <p:spPr>
          <a:xfrm flipV="1">
            <a:off x="1835084" y="1554242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5E913C6-2DB2-3DC8-CBA5-2CCE034D136F}"/>
              </a:ext>
            </a:extLst>
          </p:cNvPr>
          <p:cNvSpPr txBox="1"/>
          <p:nvPr/>
        </p:nvSpPr>
        <p:spPr>
          <a:xfrm>
            <a:off x="949852" y="116407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BF3BB2-ED74-FF3D-C205-2357CC127C40}"/>
              </a:ext>
            </a:extLst>
          </p:cNvPr>
          <p:cNvSpPr txBox="1"/>
          <p:nvPr/>
        </p:nvSpPr>
        <p:spPr>
          <a:xfrm>
            <a:off x="2079228" y="1184910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EAAFEB-09B3-C993-E608-679F19B37E8F}"/>
              </a:ext>
            </a:extLst>
          </p:cNvPr>
          <p:cNvSpPr txBox="1"/>
          <p:nvPr/>
        </p:nvSpPr>
        <p:spPr>
          <a:xfrm>
            <a:off x="3860312" y="1200969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6FCEC6-16D6-A56A-0695-E9E5636B7987}"/>
              </a:ext>
            </a:extLst>
          </p:cNvPr>
          <p:cNvSpPr txBox="1"/>
          <p:nvPr/>
        </p:nvSpPr>
        <p:spPr>
          <a:xfrm>
            <a:off x="1500002" y="18991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A0F468C-3E26-0EB6-1A1E-408DFEA10752}"/>
              </a:ext>
            </a:extLst>
          </p:cNvPr>
          <p:cNvCxnSpPr>
            <a:cxnSpLocks/>
          </p:cNvCxnSpPr>
          <p:nvPr/>
        </p:nvCxnSpPr>
        <p:spPr>
          <a:xfrm flipH="1" flipV="1">
            <a:off x="1267568" y="1554242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0609F8-D692-EE38-E5DB-1126A26BCFAC}"/>
              </a:ext>
            </a:extLst>
          </p:cNvPr>
          <p:cNvCxnSpPr>
            <a:cxnSpLocks/>
          </p:cNvCxnSpPr>
          <p:nvPr/>
        </p:nvCxnSpPr>
        <p:spPr>
          <a:xfrm flipV="1">
            <a:off x="3637624" y="1565434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78D9AC3-E56F-FDAA-C866-11536D96D4F9}"/>
              </a:ext>
            </a:extLst>
          </p:cNvPr>
          <p:cNvSpPr txBox="1"/>
          <p:nvPr/>
        </p:nvSpPr>
        <p:spPr>
          <a:xfrm>
            <a:off x="2752392" y="120096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B58574-2DFD-7576-37A4-F4C87F8497ED}"/>
              </a:ext>
            </a:extLst>
          </p:cNvPr>
          <p:cNvSpPr txBox="1"/>
          <p:nvPr/>
        </p:nvSpPr>
        <p:spPr>
          <a:xfrm>
            <a:off x="3302542" y="1910358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FDE4C9-0F21-4CE5-7C1F-0B0801E61A5A}"/>
              </a:ext>
            </a:extLst>
          </p:cNvPr>
          <p:cNvCxnSpPr>
            <a:cxnSpLocks/>
          </p:cNvCxnSpPr>
          <p:nvPr/>
        </p:nvCxnSpPr>
        <p:spPr>
          <a:xfrm flipH="1" flipV="1">
            <a:off x="3070108" y="1565434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65B1E8D-6FF3-4F95-B53E-F789FB11B94B}"/>
              </a:ext>
            </a:extLst>
          </p:cNvPr>
          <p:cNvSpPr txBox="1"/>
          <p:nvPr/>
        </p:nvSpPr>
        <p:spPr>
          <a:xfrm>
            <a:off x="2745722" y="16837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13696A-FD05-AD72-A856-5925F31914C9}"/>
              </a:ext>
            </a:extLst>
          </p:cNvPr>
          <p:cNvSpPr txBox="1"/>
          <p:nvPr/>
        </p:nvSpPr>
        <p:spPr>
          <a:xfrm>
            <a:off x="3860312" y="17465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F938C0-A051-6036-8924-DF180073E5F9}"/>
              </a:ext>
            </a:extLst>
          </p:cNvPr>
          <p:cNvSpPr txBox="1"/>
          <p:nvPr/>
        </p:nvSpPr>
        <p:spPr>
          <a:xfrm>
            <a:off x="2017389" y="16595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1D23CA-D273-ED40-A475-F752802589B6}"/>
              </a:ext>
            </a:extLst>
          </p:cNvPr>
          <p:cNvSpPr txBox="1"/>
          <p:nvPr/>
        </p:nvSpPr>
        <p:spPr>
          <a:xfrm>
            <a:off x="1010830" y="168229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EDB446-CCAE-A57D-8A31-74D11418FCDC}"/>
              </a:ext>
            </a:extLst>
          </p:cNvPr>
          <p:cNvSpPr txBox="1"/>
          <p:nvPr/>
        </p:nvSpPr>
        <p:spPr>
          <a:xfrm>
            <a:off x="1476747" y="508874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BDC6BB1-BE30-189B-BE25-F9B03000BD74}"/>
              </a:ext>
            </a:extLst>
          </p:cNvPr>
          <p:cNvCxnSpPr>
            <a:cxnSpLocks/>
          </p:cNvCxnSpPr>
          <p:nvPr/>
        </p:nvCxnSpPr>
        <p:spPr>
          <a:xfrm flipH="1">
            <a:off x="1246112" y="808495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39A073-AAEA-BBAE-2584-D8375878F600}"/>
              </a:ext>
            </a:extLst>
          </p:cNvPr>
          <p:cNvCxnSpPr>
            <a:cxnSpLocks/>
          </p:cNvCxnSpPr>
          <p:nvPr/>
        </p:nvCxnSpPr>
        <p:spPr>
          <a:xfrm>
            <a:off x="1767473" y="798315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ABB7B60-8B20-69D0-E5E4-74E19D01FE5E}"/>
              </a:ext>
            </a:extLst>
          </p:cNvPr>
          <p:cNvSpPr txBox="1"/>
          <p:nvPr/>
        </p:nvSpPr>
        <p:spPr>
          <a:xfrm>
            <a:off x="3255338" y="52493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69A1600-D09B-5311-9EDD-B7684D75A23D}"/>
              </a:ext>
            </a:extLst>
          </p:cNvPr>
          <p:cNvCxnSpPr>
            <a:cxnSpLocks/>
          </p:cNvCxnSpPr>
          <p:nvPr/>
        </p:nvCxnSpPr>
        <p:spPr>
          <a:xfrm flipH="1">
            <a:off x="3024703" y="824554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237729-07B1-3630-1B76-98153949EF0A}"/>
              </a:ext>
            </a:extLst>
          </p:cNvPr>
          <p:cNvCxnSpPr>
            <a:cxnSpLocks/>
          </p:cNvCxnSpPr>
          <p:nvPr/>
        </p:nvCxnSpPr>
        <p:spPr>
          <a:xfrm>
            <a:off x="3546064" y="814374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02C4A6D-6859-094D-9FA3-E6148A5249EA}"/>
              </a:ext>
            </a:extLst>
          </p:cNvPr>
          <p:cNvCxnSpPr>
            <a:cxnSpLocks/>
          </p:cNvCxnSpPr>
          <p:nvPr/>
        </p:nvCxnSpPr>
        <p:spPr>
          <a:xfrm>
            <a:off x="1479661" y="4702970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A3BEDC-33FC-61BD-71E5-474538760B86}"/>
              </a:ext>
            </a:extLst>
          </p:cNvPr>
          <p:cNvCxnSpPr>
            <a:cxnSpLocks/>
          </p:cNvCxnSpPr>
          <p:nvPr/>
        </p:nvCxnSpPr>
        <p:spPr>
          <a:xfrm flipV="1">
            <a:off x="1961823" y="4908472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3571044-FEC0-0503-AA69-EE62CA21C998}"/>
              </a:ext>
            </a:extLst>
          </p:cNvPr>
          <p:cNvSpPr txBox="1"/>
          <p:nvPr/>
        </p:nvSpPr>
        <p:spPr>
          <a:xfrm>
            <a:off x="1076591" y="4518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02BF0D-E8B3-C655-F0D1-98352F2D3A8B}"/>
              </a:ext>
            </a:extLst>
          </p:cNvPr>
          <p:cNvSpPr txBox="1"/>
          <p:nvPr/>
        </p:nvSpPr>
        <p:spPr>
          <a:xfrm>
            <a:off x="2205967" y="4539140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502A92-9D81-FE0B-F1A8-B0A2C2E2B946}"/>
              </a:ext>
            </a:extLst>
          </p:cNvPr>
          <p:cNvSpPr txBox="1"/>
          <p:nvPr/>
        </p:nvSpPr>
        <p:spPr>
          <a:xfrm>
            <a:off x="1626741" y="5253396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766E97-A022-E9F3-2D4F-2DE57BDCD860}"/>
              </a:ext>
            </a:extLst>
          </p:cNvPr>
          <p:cNvCxnSpPr>
            <a:cxnSpLocks/>
          </p:cNvCxnSpPr>
          <p:nvPr/>
        </p:nvCxnSpPr>
        <p:spPr>
          <a:xfrm flipH="1" flipV="1">
            <a:off x="1394307" y="4908472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3B0BA66-9DED-E1CB-3453-4F40EC8CDA3F}"/>
              </a:ext>
            </a:extLst>
          </p:cNvPr>
          <p:cNvSpPr txBox="1"/>
          <p:nvPr/>
        </p:nvSpPr>
        <p:spPr>
          <a:xfrm>
            <a:off x="2144128" y="50137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F422B2-C02C-AFA5-43FB-F7BD5E47C7DB}"/>
              </a:ext>
            </a:extLst>
          </p:cNvPr>
          <p:cNvSpPr txBox="1"/>
          <p:nvPr/>
        </p:nvSpPr>
        <p:spPr>
          <a:xfrm>
            <a:off x="1137569" y="50365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E7B414-90E6-EC35-A97D-2C15E7B0469B}"/>
              </a:ext>
            </a:extLst>
          </p:cNvPr>
          <p:cNvSpPr txBox="1"/>
          <p:nvPr/>
        </p:nvSpPr>
        <p:spPr>
          <a:xfrm>
            <a:off x="4210267" y="4535508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684217-DBAD-EBAA-8BD8-E99EB1F65C35}"/>
              </a:ext>
            </a:extLst>
          </p:cNvPr>
          <p:cNvCxnSpPr>
            <a:cxnSpLocks/>
          </p:cNvCxnSpPr>
          <p:nvPr/>
        </p:nvCxnSpPr>
        <p:spPr>
          <a:xfrm flipV="1">
            <a:off x="3987579" y="4925676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04D937-2ED5-F546-239F-D27854F50E82}"/>
              </a:ext>
            </a:extLst>
          </p:cNvPr>
          <p:cNvSpPr txBox="1"/>
          <p:nvPr/>
        </p:nvSpPr>
        <p:spPr>
          <a:xfrm>
            <a:off x="3102347" y="453550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10CDB2-E7FE-84EA-4EF1-D2967B01834D}"/>
              </a:ext>
            </a:extLst>
          </p:cNvPr>
          <p:cNvSpPr txBox="1"/>
          <p:nvPr/>
        </p:nvSpPr>
        <p:spPr>
          <a:xfrm>
            <a:off x="3652497" y="527060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D914CA6-899A-B290-46A4-7A8ECC5FCFA3}"/>
              </a:ext>
            </a:extLst>
          </p:cNvPr>
          <p:cNvCxnSpPr>
            <a:cxnSpLocks/>
          </p:cNvCxnSpPr>
          <p:nvPr/>
        </p:nvCxnSpPr>
        <p:spPr>
          <a:xfrm flipH="1" flipV="1">
            <a:off x="3420063" y="4925676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6274927-D633-B6E2-AE34-33087B976B8F}"/>
              </a:ext>
            </a:extLst>
          </p:cNvPr>
          <p:cNvSpPr txBox="1"/>
          <p:nvPr/>
        </p:nvSpPr>
        <p:spPr>
          <a:xfrm>
            <a:off x="3095677" y="50440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4E0EDC-BE99-1453-BBDA-2D5A3FE7CA21}"/>
              </a:ext>
            </a:extLst>
          </p:cNvPr>
          <p:cNvSpPr txBox="1"/>
          <p:nvPr/>
        </p:nvSpPr>
        <p:spPr>
          <a:xfrm>
            <a:off x="4210267" y="510677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0D4970-5954-F01F-43D0-79CE28913F7C}"/>
              </a:ext>
            </a:extLst>
          </p:cNvPr>
          <p:cNvSpPr txBox="1"/>
          <p:nvPr/>
        </p:nvSpPr>
        <p:spPr>
          <a:xfrm>
            <a:off x="2062766" y="5221190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38F954-A9C2-FCB7-8575-776D93421E43}"/>
              </a:ext>
            </a:extLst>
          </p:cNvPr>
          <p:cNvSpPr txBox="1"/>
          <p:nvPr/>
        </p:nvSpPr>
        <p:spPr>
          <a:xfrm>
            <a:off x="4109651" y="5316350"/>
            <a:ext cx="5389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linear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AED2797-CA54-7436-A7C6-2DA1F88BB0FD}"/>
              </a:ext>
            </a:extLst>
          </p:cNvPr>
          <p:cNvCxnSpPr>
            <a:cxnSpLocks/>
          </p:cNvCxnSpPr>
          <p:nvPr/>
        </p:nvCxnSpPr>
        <p:spPr>
          <a:xfrm>
            <a:off x="7061311" y="878206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83FF18-E5AF-C861-766C-5036B5211C8D}"/>
              </a:ext>
            </a:extLst>
          </p:cNvPr>
          <p:cNvCxnSpPr>
            <a:cxnSpLocks/>
          </p:cNvCxnSpPr>
          <p:nvPr/>
        </p:nvCxnSpPr>
        <p:spPr>
          <a:xfrm flipV="1">
            <a:off x="7543473" y="108370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BCF77D4B-BBA2-A1D3-E9B7-564A5A12FAC1}"/>
              </a:ext>
            </a:extLst>
          </p:cNvPr>
          <p:cNvSpPr txBox="1"/>
          <p:nvPr/>
        </p:nvSpPr>
        <p:spPr>
          <a:xfrm>
            <a:off x="6658241" y="6935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72AC9D-BEA9-621A-7910-E77591A17BA9}"/>
              </a:ext>
            </a:extLst>
          </p:cNvPr>
          <p:cNvSpPr txBox="1"/>
          <p:nvPr/>
        </p:nvSpPr>
        <p:spPr>
          <a:xfrm>
            <a:off x="7787617" y="714376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C9A327-F540-0BE4-BB22-9F17A165C2ED}"/>
              </a:ext>
            </a:extLst>
          </p:cNvPr>
          <p:cNvSpPr txBox="1"/>
          <p:nvPr/>
        </p:nvSpPr>
        <p:spPr>
          <a:xfrm>
            <a:off x="7208391" y="142863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9C70933-70DE-145F-278E-C482B75E364A}"/>
              </a:ext>
            </a:extLst>
          </p:cNvPr>
          <p:cNvCxnSpPr>
            <a:cxnSpLocks/>
          </p:cNvCxnSpPr>
          <p:nvPr/>
        </p:nvCxnSpPr>
        <p:spPr>
          <a:xfrm flipH="1" flipV="1">
            <a:off x="6975957" y="108370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7EB8C7C-3ED5-E6CA-C209-D42DE8860E59}"/>
              </a:ext>
            </a:extLst>
          </p:cNvPr>
          <p:cNvSpPr txBox="1"/>
          <p:nvPr/>
        </p:nvSpPr>
        <p:spPr>
          <a:xfrm>
            <a:off x="7725778" y="118901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40A0A5-C01C-F048-41BA-359C7E370181}"/>
              </a:ext>
            </a:extLst>
          </p:cNvPr>
          <p:cNvSpPr txBox="1"/>
          <p:nvPr/>
        </p:nvSpPr>
        <p:spPr>
          <a:xfrm>
            <a:off x="6719219" y="12117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7D27B9-9331-EE37-085B-B6501F50A2E4}"/>
              </a:ext>
            </a:extLst>
          </p:cNvPr>
          <p:cNvSpPr txBox="1"/>
          <p:nvPr/>
        </p:nvSpPr>
        <p:spPr>
          <a:xfrm>
            <a:off x="7608448" y="1416309"/>
            <a:ext cx="1081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with measurement error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DF7A9B-A835-DE2F-3A3F-0FF3AFA8397E}"/>
              </a:ext>
            </a:extLst>
          </p:cNvPr>
          <p:cNvSpPr txBox="1"/>
          <p:nvPr/>
        </p:nvSpPr>
        <p:spPr>
          <a:xfrm>
            <a:off x="10483160" y="62228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323B73F-10D9-31D5-28A7-F29741D047EA}"/>
              </a:ext>
            </a:extLst>
          </p:cNvPr>
          <p:cNvCxnSpPr>
            <a:cxnSpLocks/>
          </p:cNvCxnSpPr>
          <p:nvPr/>
        </p:nvCxnSpPr>
        <p:spPr>
          <a:xfrm flipV="1">
            <a:off x="10260472" y="101244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D87DE7C-2B7C-8354-BFFA-D98BDF10CA77}"/>
              </a:ext>
            </a:extLst>
          </p:cNvPr>
          <p:cNvSpPr txBox="1"/>
          <p:nvPr/>
        </p:nvSpPr>
        <p:spPr>
          <a:xfrm>
            <a:off x="9375240" y="6222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E17C70-8F7A-229C-8DB7-F56627104553}"/>
              </a:ext>
            </a:extLst>
          </p:cNvPr>
          <p:cNvSpPr txBox="1"/>
          <p:nvPr/>
        </p:nvSpPr>
        <p:spPr>
          <a:xfrm>
            <a:off x="9925390" y="135737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1987833-CEE6-D89F-2922-D0CA0A0BB8B5}"/>
              </a:ext>
            </a:extLst>
          </p:cNvPr>
          <p:cNvCxnSpPr>
            <a:cxnSpLocks/>
          </p:cNvCxnSpPr>
          <p:nvPr/>
        </p:nvCxnSpPr>
        <p:spPr>
          <a:xfrm flipH="1" flipV="1">
            <a:off x="9692956" y="101244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CDE9C78-7256-49A1-7F72-4AACC608B7DE}"/>
              </a:ext>
            </a:extLst>
          </p:cNvPr>
          <p:cNvSpPr txBox="1"/>
          <p:nvPr/>
        </p:nvSpPr>
        <p:spPr>
          <a:xfrm>
            <a:off x="9368570" y="11307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5555C3-2A5A-1341-61EC-059F8A31A1D4}"/>
              </a:ext>
            </a:extLst>
          </p:cNvPr>
          <p:cNvSpPr txBox="1"/>
          <p:nvPr/>
        </p:nvSpPr>
        <p:spPr>
          <a:xfrm>
            <a:off x="10483160" y="119354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4D0A42-4408-13B7-85DB-89EE4087446C}"/>
              </a:ext>
            </a:extLst>
          </p:cNvPr>
          <p:cNvSpPr txBox="1"/>
          <p:nvPr/>
        </p:nvSpPr>
        <p:spPr>
          <a:xfrm>
            <a:off x="10382544" y="1403122"/>
            <a:ext cx="11101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no measurement error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2CB2232-59DD-CD90-EF0E-632B7B633C22}"/>
              </a:ext>
            </a:extLst>
          </p:cNvPr>
          <p:cNvCxnSpPr>
            <a:cxnSpLocks/>
          </p:cNvCxnSpPr>
          <p:nvPr/>
        </p:nvCxnSpPr>
        <p:spPr>
          <a:xfrm>
            <a:off x="7178641" y="4521845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503DB10-4478-8AFE-CEC7-588482E10D7F}"/>
              </a:ext>
            </a:extLst>
          </p:cNvPr>
          <p:cNvCxnSpPr>
            <a:cxnSpLocks/>
          </p:cNvCxnSpPr>
          <p:nvPr/>
        </p:nvCxnSpPr>
        <p:spPr>
          <a:xfrm flipV="1">
            <a:off x="7660803" y="4727347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CFD7E9FD-2EC7-0931-EB20-91DE34A32168}"/>
              </a:ext>
            </a:extLst>
          </p:cNvPr>
          <p:cNvSpPr txBox="1"/>
          <p:nvPr/>
        </p:nvSpPr>
        <p:spPr>
          <a:xfrm>
            <a:off x="6775571" y="43371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100CB6-4C5D-C539-F14B-F0DC77A7B61F}"/>
              </a:ext>
            </a:extLst>
          </p:cNvPr>
          <p:cNvSpPr txBox="1"/>
          <p:nvPr/>
        </p:nvSpPr>
        <p:spPr>
          <a:xfrm>
            <a:off x="7904947" y="4358015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F46F43-C577-70F2-62BC-A345CD59CC33}"/>
              </a:ext>
            </a:extLst>
          </p:cNvPr>
          <p:cNvSpPr txBox="1"/>
          <p:nvPr/>
        </p:nvSpPr>
        <p:spPr>
          <a:xfrm>
            <a:off x="7325721" y="5072271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D823E76-1986-A12F-BB44-48C23F4D852B}"/>
              </a:ext>
            </a:extLst>
          </p:cNvPr>
          <p:cNvCxnSpPr>
            <a:cxnSpLocks/>
          </p:cNvCxnSpPr>
          <p:nvPr/>
        </p:nvCxnSpPr>
        <p:spPr>
          <a:xfrm flipH="1" flipV="1">
            <a:off x="7093287" y="4727347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788FA5E-E214-7576-A85F-E75621F06588}"/>
              </a:ext>
            </a:extLst>
          </p:cNvPr>
          <p:cNvSpPr txBox="1"/>
          <p:nvPr/>
        </p:nvSpPr>
        <p:spPr>
          <a:xfrm>
            <a:off x="7843108" y="48326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3C3F88-300F-D438-8BAA-EB527BC5A8EF}"/>
              </a:ext>
            </a:extLst>
          </p:cNvPr>
          <p:cNvSpPr txBox="1"/>
          <p:nvPr/>
        </p:nvSpPr>
        <p:spPr>
          <a:xfrm>
            <a:off x="6836549" y="48553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FC0C6A-53F2-FE87-306C-1D7B4D4DC1F9}"/>
              </a:ext>
            </a:extLst>
          </p:cNvPr>
          <p:cNvSpPr txBox="1"/>
          <p:nvPr/>
        </p:nvSpPr>
        <p:spPr>
          <a:xfrm>
            <a:off x="7725778" y="5059948"/>
            <a:ext cx="1081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strong association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A795732-481F-3C8A-3A3C-EF56BFFAE444}"/>
              </a:ext>
            </a:extLst>
          </p:cNvPr>
          <p:cNvSpPr txBox="1"/>
          <p:nvPr/>
        </p:nvSpPr>
        <p:spPr>
          <a:xfrm>
            <a:off x="9640828" y="4279106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E23C841-67B9-2D46-2244-B56A1966AFE3}"/>
              </a:ext>
            </a:extLst>
          </p:cNvPr>
          <p:cNvCxnSpPr>
            <a:cxnSpLocks/>
          </p:cNvCxnSpPr>
          <p:nvPr/>
        </p:nvCxnSpPr>
        <p:spPr>
          <a:xfrm flipV="1">
            <a:off x="9418140" y="4669274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5FB7A7BC-1CF5-2F50-6B2B-904620E43C09}"/>
              </a:ext>
            </a:extLst>
          </p:cNvPr>
          <p:cNvSpPr txBox="1"/>
          <p:nvPr/>
        </p:nvSpPr>
        <p:spPr>
          <a:xfrm>
            <a:off x="8532908" y="427910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6A093C6-2EE7-2AE5-1859-B9607A6FC57B}"/>
              </a:ext>
            </a:extLst>
          </p:cNvPr>
          <p:cNvSpPr txBox="1"/>
          <p:nvPr/>
        </p:nvSpPr>
        <p:spPr>
          <a:xfrm>
            <a:off x="9083058" y="5014198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1D3B4BB-CD80-FA06-0877-821BCFEBBB92}"/>
              </a:ext>
            </a:extLst>
          </p:cNvPr>
          <p:cNvCxnSpPr>
            <a:cxnSpLocks/>
          </p:cNvCxnSpPr>
          <p:nvPr/>
        </p:nvCxnSpPr>
        <p:spPr>
          <a:xfrm flipH="1" flipV="1">
            <a:off x="8850624" y="4669274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4CA9082-3A16-C750-C635-6FC9898FA70C}"/>
              </a:ext>
            </a:extLst>
          </p:cNvPr>
          <p:cNvSpPr txBox="1"/>
          <p:nvPr/>
        </p:nvSpPr>
        <p:spPr>
          <a:xfrm>
            <a:off x="8526238" y="4787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643922-10D9-6A64-0492-47BBB00CD2DD}"/>
              </a:ext>
            </a:extLst>
          </p:cNvPr>
          <p:cNvSpPr txBox="1"/>
          <p:nvPr/>
        </p:nvSpPr>
        <p:spPr>
          <a:xfrm>
            <a:off x="9640828" y="485036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035089-F491-CD82-EEA9-8283A8E571A5}"/>
              </a:ext>
            </a:extLst>
          </p:cNvPr>
          <p:cNvSpPr txBox="1"/>
          <p:nvPr/>
        </p:nvSpPr>
        <p:spPr>
          <a:xfrm>
            <a:off x="9540212" y="5059948"/>
            <a:ext cx="1110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weak association 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C373F8-2395-63D2-99BD-60D65D25FC85}"/>
              </a:ext>
            </a:extLst>
          </p:cNvPr>
          <p:cNvSpPr txBox="1"/>
          <p:nvPr/>
        </p:nvSpPr>
        <p:spPr>
          <a:xfrm>
            <a:off x="3907516" y="362506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78D8F46-37DE-ED58-6ECC-2C403AA33D4F}"/>
              </a:ext>
            </a:extLst>
          </p:cNvPr>
          <p:cNvSpPr txBox="1"/>
          <p:nvPr/>
        </p:nvSpPr>
        <p:spPr>
          <a:xfrm>
            <a:off x="2799596" y="362506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4B8F4A-4707-7E52-8BF0-DFBE4C2CB083}"/>
              </a:ext>
            </a:extLst>
          </p:cNvPr>
          <p:cNvSpPr txBox="1"/>
          <p:nvPr/>
        </p:nvSpPr>
        <p:spPr>
          <a:xfrm>
            <a:off x="3302542" y="294902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48EBBFF-B160-0C26-D3B5-B9FC56B54F65}"/>
              </a:ext>
            </a:extLst>
          </p:cNvPr>
          <p:cNvCxnSpPr>
            <a:cxnSpLocks/>
          </p:cNvCxnSpPr>
          <p:nvPr/>
        </p:nvCxnSpPr>
        <p:spPr>
          <a:xfrm flipH="1">
            <a:off x="3071907" y="3248649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A9DD4C7-2320-258F-DA66-F63BC5D8A972}"/>
              </a:ext>
            </a:extLst>
          </p:cNvPr>
          <p:cNvCxnSpPr>
            <a:cxnSpLocks/>
          </p:cNvCxnSpPr>
          <p:nvPr/>
        </p:nvCxnSpPr>
        <p:spPr>
          <a:xfrm>
            <a:off x="3593268" y="3238469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88D28C8-E9F1-FF4D-A6DC-EF77B0BF4DFD}"/>
              </a:ext>
            </a:extLst>
          </p:cNvPr>
          <p:cNvCxnSpPr>
            <a:cxnSpLocks/>
          </p:cNvCxnSpPr>
          <p:nvPr/>
        </p:nvCxnSpPr>
        <p:spPr>
          <a:xfrm>
            <a:off x="1466391" y="3421618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313B746-A0B4-6620-E4FA-EDDE60B1D9EB}"/>
              </a:ext>
            </a:extLst>
          </p:cNvPr>
          <p:cNvCxnSpPr>
            <a:cxnSpLocks/>
          </p:cNvCxnSpPr>
          <p:nvPr/>
        </p:nvCxnSpPr>
        <p:spPr>
          <a:xfrm flipV="1">
            <a:off x="1948553" y="3627120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D80A768-B51B-2F22-D759-6DE3AD2CEDDC}"/>
              </a:ext>
            </a:extLst>
          </p:cNvPr>
          <p:cNvSpPr txBox="1"/>
          <p:nvPr/>
        </p:nvSpPr>
        <p:spPr>
          <a:xfrm>
            <a:off x="1063321" y="323695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B3A56FB-DA9F-775B-6AA4-1EDA00C84F87}"/>
              </a:ext>
            </a:extLst>
          </p:cNvPr>
          <p:cNvSpPr txBox="1"/>
          <p:nvPr/>
        </p:nvSpPr>
        <p:spPr>
          <a:xfrm>
            <a:off x="2192697" y="325778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EF2853A-95E0-CFCB-1ABA-7F0E7ECC966F}"/>
              </a:ext>
            </a:extLst>
          </p:cNvPr>
          <p:cNvSpPr txBox="1"/>
          <p:nvPr/>
        </p:nvSpPr>
        <p:spPr>
          <a:xfrm>
            <a:off x="1613471" y="397204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1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5298F7B-E57E-DB53-152B-D02B25373F2D}"/>
              </a:ext>
            </a:extLst>
          </p:cNvPr>
          <p:cNvCxnSpPr>
            <a:cxnSpLocks/>
          </p:cNvCxnSpPr>
          <p:nvPr/>
        </p:nvCxnSpPr>
        <p:spPr>
          <a:xfrm flipH="1" flipV="1">
            <a:off x="1381037" y="3627120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8B30039-34AD-537E-8E6D-527B1E6EF372}"/>
              </a:ext>
            </a:extLst>
          </p:cNvPr>
          <p:cNvSpPr txBox="1"/>
          <p:nvPr/>
        </p:nvSpPr>
        <p:spPr>
          <a:xfrm>
            <a:off x="2130858" y="37324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A4FC59-54B0-1FB3-594A-7A2CC7D4FB39}"/>
              </a:ext>
            </a:extLst>
          </p:cNvPr>
          <p:cNvSpPr txBox="1"/>
          <p:nvPr/>
        </p:nvSpPr>
        <p:spPr>
          <a:xfrm>
            <a:off x="1124299" y="37551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4F9E2E-0745-15D4-8D78-369707F89BCB}"/>
              </a:ext>
            </a:extLst>
          </p:cNvPr>
          <p:cNvSpPr txBox="1"/>
          <p:nvPr/>
        </p:nvSpPr>
        <p:spPr>
          <a:xfrm>
            <a:off x="1590216" y="258175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470701E-1BCD-120F-A88B-DF14C25B25F9}"/>
              </a:ext>
            </a:extLst>
          </p:cNvPr>
          <p:cNvCxnSpPr>
            <a:cxnSpLocks/>
          </p:cNvCxnSpPr>
          <p:nvPr/>
        </p:nvCxnSpPr>
        <p:spPr>
          <a:xfrm flipH="1">
            <a:off x="1359581" y="2881373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B85B9761-CBC5-3B03-8152-1E54CB77E71C}"/>
              </a:ext>
            </a:extLst>
          </p:cNvPr>
          <p:cNvCxnSpPr>
            <a:cxnSpLocks/>
          </p:cNvCxnSpPr>
          <p:nvPr/>
        </p:nvCxnSpPr>
        <p:spPr>
          <a:xfrm>
            <a:off x="1880942" y="2871193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92D83E2F-43DC-78F4-38ED-F058DC55E7A0}"/>
              </a:ext>
            </a:extLst>
          </p:cNvPr>
          <p:cNvCxnSpPr>
            <a:cxnSpLocks/>
          </p:cNvCxnSpPr>
          <p:nvPr/>
        </p:nvCxnSpPr>
        <p:spPr>
          <a:xfrm>
            <a:off x="7061311" y="2918251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BB65F51-5783-838A-94E1-C008615B6988}"/>
              </a:ext>
            </a:extLst>
          </p:cNvPr>
          <p:cNvCxnSpPr>
            <a:cxnSpLocks/>
          </p:cNvCxnSpPr>
          <p:nvPr/>
        </p:nvCxnSpPr>
        <p:spPr>
          <a:xfrm flipV="1">
            <a:off x="7543473" y="3123753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F40EF11D-689B-B215-139E-AFB863B34D6B}"/>
              </a:ext>
            </a:extLst>
          </p:cNvPr>
          <p:cNvSpPr txBox="1"/>
          <p:nvPr/>
        </p:nvSpPr>
        <p:spPr>
          <a:xfrm>
            <a:off x="6658241" y="273358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25A7674-2600-D6B6-492D-3B21E5E953F9}"/>
              </a:ext>
            </a:extLst>
          </p:cNvPr>
          <p:cNvSpPr txBox="1"/>
          <p:nvPr/>
        </p:nvSpPr>
        <p:spPr>
          <a:xfrm>
            <a:off x="7787617" y="2754421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EB37990-99BD-F233-1BCE-AD9BF2C8C785}"/>
              </a:ext>
            </a:extLst>
          </p:cNvPr>
          <p:cNvSpPr txBox="1"/>
          <p:nvPr/>
        </p:nvSpPr>
        <p:spPr>
          <a:xfrm>
            <a:off x="7208391" y="3468677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1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6743B9AD-47AC-6F09-9073-06B239266D3E}"/>
              </a:ext>
            </a:extLst>
          </p:cNvPr>
          <p:cNvCxnSpPr>
            <a:cxnSpLocks/>
          </p:cNvCxnSpPr>
          <p:nvPr/>
        </p:nvCxnSpPr>
        <p:spPr>
          <a:xfrm flipH="1" flipV="1">
            <a:off x="6975957" y="3123753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3B8250D0-1763-70C0-D815-1F8673E685BF}"/>
              </a:ext>
            </a:extLst>
          </p:cNvPr>
          <p:cNvSpPr txBox="1"/>
          <p:nvPr/>
        </p:nvSpPr>
        <p:spPr>
          <a:xfrm>
            <a:off x="7725778" y="322906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BEF1E7A-7A6F-3CE0-D089-B086A1312E50}"/>
              </a:ext>
            </a:extLst>
          </p:cNvPr>
          <p:cNvSpPr txBox="1"/>
          <p:nvPr/>
        </p:nvSpPr>
        <p:spPr>
          <a:xfrm>
            <a:off x="6719219" y="32518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8F2F7B0-5090-D4F8-D8AF-7789065D6FBE}"/>
              </a:ext>
            </a:extLst>
          </p:cNvPr>
          <p:cNvSpPr txBox="1"/>
          <p:nvPr/>
        </p:nvSpPr>
        <p:spPr>
          <a:xfrm>
            <a:off x="9761741" y="2755263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54E91C02-AAE8-7895-436C-DFA19FBC7030}"/>
              </a:ext>
            </a:extLst>
          </p:cNvPr>
          <p:cNvCxnSpPr>
            <a:cxnSpLocks/>
          </p:cNvCxnSpPr>
          <p:nvPr/>
        </p:nvCxnSpPr>
        <p:spPr>
          <a:xfrm flipV="1">
            <a:off x="9539053" y="311972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4E23A7E0-F8F6-5910-BB43-0DBDC8EDD4DB}"/>
              </a:ext>
            </a:extLst>
          </p:cNvPr>
          <p:cNvSpPr txBox="1"/>
          <p:nvPr/>
        </p:nvSpPr>
        <p:spPr>
          <a:xfrm>
            <a:off x="8653821" y="275526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90882A4-6097-8DD1-F1A5-59D8147D204B}"/>
              </a:ext>
            </a:extLst>
          </p:cNvPr>
          <p:cNvSpPr txBox="1"/>
          <p:nvPr/>
        </p:nvSpPr>
        <p:spPr>
          <a:xfrm>
            <a:off x="9203971" y="346465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1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D06F40FF-CA03-0A79-6E14-4FB180335451}"/>
              </a:ext>
            </a:extLst>
          </p:cNvPr>
          <p:cNvCxnSpPr>
            <a:cxnSpLocks/>
          </p:cNvCxnSpPr>
          <p:nvPr/>
        </p:nvCxnSpPr>
        <p:spPr>
          <a:xfrm flipH="1" flipV="1">
            <a:off x="8971537" y="311972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40AD5C3C-0183-3548-D313-1AA47D5EF75A}"/>
              </a:ext>
            </a:extLst>
          </p:cNvPr>
          <p:cNvSpPr txBox="1"/>
          <p:nvPr/>
        </p:nvSpPr>
        <p:spPr>
          <a:xfrm>
            <a:off x="8647151" y="32380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D55C10C-6D0A-D9E3-33B9-249482C2A9A0}"/>
              </a:ext>
            </a:extLst>
          </p:cNvPr>
          <p:cNvSpPr txBox="1"/>
          <p:nvPr/>
        </p:nvSpPr>
        <p:spPr>
          <a:xfrm>
            <a:off x="9761741" y="3300822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7E04E7-4531-05D2-2314-2B28450CE71F}"/>
              </a:ext>
            </a:extLst>
          </p:cNvPr>
          <p:cNvSpPr txBox="1"/>
          <p:nvPr/>
        </p:nvSpPr>
        <p:spPr>
          <a:xfrm>
            <a:off x="787550" y="203374"/>
            <a:ext cx="165116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1: Correct case</a:t>
            </a:r>
          </a:p>
        </p:txBody>
      </p:sp>
    </p:spTree>
    <p:extLst>
      <p:ext uri="{BB962C8B-B14F-4D97-AF65-F5344CB8AC3E}">
        <p14:creationId xmlns:p14="http://schemas.microsoft.com/office/powerpoint/2010/main" val="3501971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68DF19-A020-0CE3-6735-EA754067E2BF}"/>
              </a:ext>
            </a:extLst>
          </p:cNvPr>
          <p:cNvSpPr txBox="1"/>
          <p:nvPr/>
        </p:nvSpPr>
        <p:spPr>
          <a:xfrm>
            <a:off x="961914" y="244935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679EE-015F-ADC9-7D4D-425D594C5123}"/>
              </a:ext>
            </a:extLst>
          </p:cNvPr>
          <p:cNvSpPr txBox="1"/>
          <p:nvPr/>
        </p:nvSpPr>
        <p:spPr>
          <a:xfrm>
            <a:off x="2704473" y="247084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F1958E-5C9B-C011-7D55-8CFEFF46B177}"/>
              </a:ext>
            </a:extLst>
          </p:cNvPr>
          <p:cNvSpPr txBox="1"/>
          <p:nvPr/>
        </p:nvSpPr>
        <p:spPr>
          <a:xfrm>
            <a:off x="1819949" y="285048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5FB2609-E144-6BB2-CC34-45698D3892ED}"/>
              </a:ext>
            </a:extLst>
          </p:cNvPr>
          <p:cNvCxnSpPr>
            <a:cxnSpLocks/>
            <a:stCxn id="47" idx="1"/>
            <a:endCxn id="6" idx="0"/>
          </p:cNvCxnSpPr>
          <p:nvPr/>
        </p:nvCxnSpPr>
        <p:spPr>
          <a:xfrm flipH="1">
            <a:off x="1120772" y="2286182"/>
            <a:ext cx="711240" cy="163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E6E1FB-88A6-92CC-6061-98D6CD5B6CAE}"/>
              </a:ext>
            </a:extLst>
          </p:cNvPr>
          <p:cNvSpPr txBox="1"/>
          <p:nvPr/>
        </p:nvSpPr>
        <p:spPr>
          <a:xfrm>
            <a:off x="3649914" y="2346877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574EC7-3C44-A182-A49A-F013DD6A5980}"/>
              </a:ext>
            </a:extLst>
          </p:cNvPr>
          <p:cNvSpPr txBox="1"/>
          <p:nvPr/>
        </p:nvSpPr>
        <p:spPr>
          <a:xfrm>
            <a:off x="1832012" y="2101516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18549B7-0947-9177-59AF-D73368DBB2E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267568" y="2640330"/>
            <a:ext cx="1436905" cy="1518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A9E53D6-3727-3067-BB1F-C3417D9A9A2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2114462" y="2286182"/>
            <a:ext cx="629072" cy="2392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9609086-984F-8C43-5A46-8348501099B2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52091" y="2789785"/>
            <a:ext cx="582285" cy="24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D861DF2-8B06-7451-1618-D878DB97487E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199390" y="2820507"/>
            <a:ext cx="620559" cy="2146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ED5E2A4-E605-3BBC-56DF-B664D4F34073}"/>
              </a:ext>
            </a:extLst>
          </p:cNvPr>
          <p:cNvCxnSpPr>
            <a:cxnSpLocks/>
            <a:stCxn id="47" idx="3"/>
            <a:endCxn id="14" idx="1"/>
          </p:cNvCxnSpPr>
          <p:nvPr/>
        </p:nvCxnSpPr>
        <p:spPr>
          <a:xfrm>
            <a:off x="2114462" y="2286182"/>
            <a:ext cx="1535452" cy="24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649D1F0-DB0B-B348-FA8C-226A2868E229}"/>
              </a:ext>
            </a:extLst>
          </p:cNvPr>
          <p:cNvCxnSpPr>
            <a:cxnSpLocks/>
            <a:stCxn id="8" idx="3"/>
            <a:endCxn id="14" idx="2"/>
          </p:cNvCxnSpPr>
          <p:nvPr/>
        </p:nvCxnSpPr>
        <p:spPr>
          <a:xfrm flipV="1">
            <a:off x="2152091" y="2716209"/>
            <a:ext cx="1664696" cy="3189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89A26E4-1C16-7E78-0BB3-3C597106BA1F}"/>
              </a:ext>
            </a:extLst>
          </p:cNvPr>
          <p:cNvSpPr txBox="1"/>
          <p:nvPr/>
        </p:nvSpPr>
        <p:spPr>
          <a:xfrm>
            <a:off x="745125" y="3369229"/>
            <a:ext cx="3918696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Relationships between exposure A, outcome Y, observed confounder(s) L, unobserved confounders U, and negative control outcome N</a:t>
            </a:r>
          </a:p>
        </p:txBody>
      </p:sp>
    </p:spTree>
    <p:extLst>
      <p:ext uri="{BB962C8B-B14F-4D97-AF65-F5344CB8AC3E}">
        <p14:creationId xmlns:p14="http://schemas.microsoft.com/office/powerpoint/2010/main" val="3546519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A196998-4828-65D2-03E0-2F23A8695467}"/>
              </a:ext>
            </a:extLst>
          </p:cNvPr>
          <p:cNvSpPr txBox="1"/>
          <p:nvPr/>
        </p:nvSpPr>
        <p:spPr>
          <a:xfrm>
            <a:off x="8761818" y="1092339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D1044-9292-F4EE-37C1-8790A9F1E8EB}"/>
              </a:ext>
            </a:extLst>
          </p:cNvPr>
          <p:cNvSpPr txBox="1"/>
          <p:nvPr/>
        </p:nvSpPr>
        <p:spPr>
          <a:xfrm>
            <a:off x="7653898" y="10923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2AB89-2AC9-9589-646A-9DE08873C7B3}"/>
              </a:ext>
            </a:extLst>
          </p:cNvPr>
          <p:cNvSpPr txBox="1"/>
          <p:nvPr/>
        </p:nvSpPr>
        <p:spPr>
          <a:xfrm>
            <a:off x="8156844" y="41630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492B377-96FD-E6F0-A11A-886791C8D669}"/>
              </a:ext>
            </a:extLst>
          </p:cNvPr>
          <p:cNvCxnSpPr>
            <a:cxnSpLocks/>
          </p:cNvCxnSpPr>
          <p:nvPr/>
        </p:nvCxnSpPr>
        <p:spPr>
          <a:xfrm flipH="1">
            <a:off x="7926209" y="715924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5BA21C-A4C0-FB13-641F-77C2C68497F0}"/>
              </a:ext>
            </a:extLst>
          </p:cNvPr>
          <p:cNvCxnSpPr>
            <a:cxnSpLocks/>
          </p:cNvCxnSpPr>
          <p:nvPr/>
        </p:nvCxnSpPr>
        <p:spPr>
          <a:xfrm>
            <a:off x="8447570" y="705744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79428D-32DE-81CF-8AFF-0ED30B4D4AA0}"/>
              </a:ext>
            </a:extLst>
          </p:cNvPr>
          <p:cNvCxnSpPr>
            <a:cxnSpLocks/>
          </p:cNvCxnSpPr>
          <p:nvPr/>
        </p:nvCxnSpPr>
        <p:spPr>
          <a:xfrm>
            <a:off x="6289851" y="1284208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A36653-2607-154A-47BC-EEE504770EA8}"/>
              </a:ext>
            </a:extLst>
          </p:cNvPr>
          <p:cNvCxnSpPr>
            <a:cxnSpLocks/>
          </p:cNvCxnSpPr>
          <p:nvPr/>
        </p:nvCxnSpPr>
        <p:spPr>
          <a:xfrm flipV="1">
            <a:off x="6772013" y="1489710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E437BD-C496-19D6-9FD2-C35583A59A2C}"/>
              </a:ext>
            </a:extLst>
          </p:cNvPr>
          <p:cNvSpPr txBox="1"/>
          <p:nvPr/>
        </p:nvSpPr>
        <p:spPr>
          <a:xfrm>
            <a:off x="5886781" y="10995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2366A2-A8CC-F6AF-4448-32905F28CE40}"/>
              </a:ext>
            </a:extLst>
          </p:cNvPr>
          <p:cNvSpPr txBox="1"/>
          <p:nvPr/>
        </p:nvSpPr>
        <p:spPr>
          <a:xfrm>
            <a:off x="7016157" y="112037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D23E1D-6B08-EC2E-3F0B-AAE1BB541413}"/>
              </a:ext>
            </a:extLst>
          </p:cNvPr>
          <p:cNvSpPr txBox="1"/>
          <p:nvPr/>
        </p:nvSpPr>
        <p:spPr>
          <a:xfrm>
            <a:off x="6436931" y="18346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32E6A2D-DE77-EF1D-9B40-128E712FD520}"/>
              </a:ext>
            </a:extLst>
          </p:cNvPr>
          <p:cNvCxnSpPr>
            <a:cxnSpLocks/>
          </p:cNvCxnSpPr>
          <p:nvPr/>
        </p:nvCxnSpPr>
        <p:spPr>
          <a:xfrm flipH="1" flipV="1">
            <a:off x="6204497" y="1489710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B35B2A1-40C1-C532-9D8F-F2A20C200B17}"/>
              </a:ext>
            </a:extLst>
          </p:cNvPr>
          <p:cNvSpPr txBox="1"/>
          <p:nvPr/>
        </p:nvSpPr>
        <p:spPr>
          <a:xfrm>
            <a:off x="6954318" y="15950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9F7369-3945-F5C9-42CE-AB5A3A85597F}"/>
              </a:ext>
            </a:extLst>
          </p:cNvPr>
          <p:cNvSpPr txBox="1"/>
          <p:nvPr/>
        </p:nvSpPr>
        <p:spPr>
          <a:xfrm>
            <a:off x="5947759" y="16177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1C9051-E0F8-96F9-90BE-AC6A21A88D9D}"/>
              </a:ext>
            </a:extLst>
          </p:cNvPr>
          <p:cNvSpPr txBox="1"/>
          <p:nvPr/>
        </p:nvSpPr>
        <p:spPr>
          <a:xfrm>
            <a:off x="6413676" y="44434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50A9C11-0B24-A59A-FA8E-9B3EB8E2709D}"/>
              </a:ext>
            </a:extLst>
          </p:cNvPr>
          <p:cNvCxnSpPr>
            <a:cxnSpLocks/>
          </p:cNvCxnSpPr>
          <p:nvPr/>
        </p:nvCxnSpPr>
        <p:spPr>
          <a:xfrm flipH="1">
            <a:off x="6183041" y="743963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34B0B45-3F22-EAB2-BCBD-63C8EE603CE2}"/>
              </a:ext>
            </a:extLst>
          </p:cNvPr>
          <p:cNvCxnSpPr>
            <a:cxnSpLocks/>
          </p:cNvCxnSpPr>
          <p:nvPr/>
        </p:nvCxnSpPr>
        <p:spPr>
          <a:xfrm>
            <a:off x="6704402" y="733783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EE63974-C9F9-CDE2-6C20-A9E1AC38E68A}"/>
              </a:ext>
            </a:extLst>
          </p:cNvPr>
          <p:cNvCxnSpPr>
            <a:cxnSpLocks/>
          </p:cNvCxnSpPr>
          <p:nvPr/>
        </p:nvCxnSpPr>
        <p:spPr>
          <a:xfrm>
            <a:off x="1352922" y="1348740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8B6A40-744B-5D13-6946-4557460BF654}"/>
              </a:ext>
            </a:extLst>
          </p:cNvPr>
          <p:cNvCxnSpPr>
            <a:cxnSpLocks/>
          </p:cNvCxnSpPr>
          <p:nvPr/>
        </p:nvCxnSpPr>
        <p:spPr>
          <a:xfrm flipV="1">
            <a:off x="1835084" y="1554242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4D58A59-99FC-40CE-7EA6-9B700BEFC97D}"/>
              </a:ext>
            </a:extLst>
          </p:cNvPr>
          <p:cNvSpPr txBox="1"/>
          <p:nvPr/>
        </p:nvSpPr>
        <p:spPr>
          <a:xfrm>
            <a:off x="949852" y="116407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BF7FBD-079A-D9AD-24AF-D1F5F97F27C0}"/>
              </a:ext>
            </a:extLst>
          </p:cNvPr>
          <p:cNvSpPr txBox="1"/>
          <p:nvPr/>
        </p:nvSpPr>
        <p:spPr>
          <a:xfrm>
            <a:off x="2079228" y="1184910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E47888-5F5B-942F-F826-310C4491AF45}"/>
              </a:ext>
            </a:extLst>
          </p:cNvPr>
          <p:cNvSpPr txBox="1"/>
          <p:nvPr/>
        </p:nvSpPr>
        <p:spPr>
          <a:xfrm>
            <a:off x="3860312" y="1200969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5B068C-F2DD-9E12-05CD-D24092AB8233}"/>
              </a:ext>
            </a:extLst>
          </p:cNvPr>
          <p:cNvSpPr txBox="1"/>
          <p:nvPr/>
        </p:nvSpPr>
        <p:spPr>
          <a:xfrm>
            <a:off x="1500002" y="18991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86FB990-CA29-3D4A-0509-5A37A238AB9D}"/>
              </a:ext>
            </a:extLst>
          </p:cNvPr>
          <p:cNvCxnSpPr>
            <a:cxnSpLocks/>
          </p:cNvCxnSpPr>
          <p:nvPr/>
        </p:nvCxnSpPr>
        <p:spPr>
          <a:xfrm flipH="1" flipV="1">
            <a:off x="1267568" y="1554242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0877199-9E18-D0AA-9234-2A2E1BC962C4}"/>
              </a:ext>
            </a:extLst>
          </p:cNvPr>
          <p:cNvCxnSpPr>
            <a:cxnSpLocks/>
          </p:cNvCxnSpPr>
          <p:nvPr/>
        </p:nvCxnSpPr>
        <p:spPr>
          <a:xfrm flipV="1">
            <a:off x="3637624" y="1565434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6347A3B-12F7-48E0-FD63-2C42234D0D26}"/>
              </a:ext>
            </a:extLst>
          </p:cNvPr>
          <p:cNvSpPr txBox="1"/>
          <p:nvPr/>
        </p:nvSpPr>
        <p:spPr>
          <a:xfrm>
            <a:off x="2752392" y="120096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5EEE97-A68B-B7CA-ACCA-F888B41043A3}"/>
              </a:ext>
            </a:extLst>
          </p:cNvPr>
          <p:cNvSpPr txBox="1"/>
          <p:nvPr/>
        </p:nvSpPr>
        <p:spPr>
          <a:xfrm>
            <a:off x="3302542" y="1910358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A101407-96D4-852A-CBAB-6D73D68BF9B8}"/>
              </a:ext>
            </a:extLst>
          </p:cNvPr>
          <p:cNvCxnSpPr>
            <a:cxnSpLocks/>
          </p:cNvCxnSpPr>
          <p:nvPr/>
        </p:nvCxnSpPr>
        <p:spPr>
          <a:xfrm flipH="1" flipV="1">
            <a:off x="3070108" y="1565434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FF33DC2-40FA-524A-2F8C-F2114E6BCFA7}"/>
              </a:ext>
            </a:extLst>
          </p:cNvPr>
          <p:cNvSpPr txBox="1"/>
          <p:nvPr/>
        </p:nvSpPr>
        <p:spPr>
          <a:xfrm>
            <a:off x="2745722" y="16837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315CE2-D837-D07C-3B1F-A80B730B68FA}"/>
              </a:ext>
            </a:extLst>
          </p:cNvPr>
          <p:cNvSpPr txBox="1"/>
          <p:nvPr/>
        </p:nvSpPr>
        <p:spPr>
          <a:xfrm>
            <a:off x="3860312" y="17465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534765-DF57-9551-928C-A91ED208C208}"/>
              </a:ext>
            </a:extLst>
          </p:cNvPr>
          <p:cNvSpPr txBox="1"/>
          <p:nvPr/>
        </p:nvSpPr>
        <p:spPr>
          <a:xfrm>
            <a:off x="2017389" y="16595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B90544-D7AF-1581-F902-8F328FDD658F}"/>
              </a:ext>
            </a:extLst>
          </p:cNvPr>
          <p:cNvSpPr txBox="1"/>
          <p:nvPr/>
        </p:nvSpPr>
        <p:spPr>
          <a:xfrm>
            <a:off x="1010830" y="168229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E2105-410F-4015-D891-165CC62B6557}"/>
              </a:ext>
            </a:extLst>
          </p:cNvPr>
          <p:cNvSpPr txBox="1"/>
          <p:nvPr/>
        </p:nvSpPr>
        <p:spPr>
          <a:xfrm>
            <a:off x="1476747" y="508874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3A84D2-3914-F46C-08EC-0C5C91E6AD48}"/>
              </a:ext>
            </a:extLst>
          </p:cNvPr>
          <p:cNvCxnSpPr>
            <a:cxnSpLocks/>
          </p:cNvCxnSpPr>
          <p:nvPr/>
        </p:nvCxnSpPr>
        <p:spPr>
          <a:xfrm flipH="1">
            <a:off x="1246112" y="808495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7783E01-2D42-E1B5-B4B4-07E89F4776A9}"/>
              </a:ext>
            </a:extLst>
          </p:cNvPr>
          <p:cNvCxnSpPr>
            <a:cxnSpLocks/>
          </p:cNvCxnSpPr>
          <p:nvPr/>
        </p:nvCxnSpPr>
        <p:spPr>
          <a:xfrm>
            <a:off x="1767473" y="798315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1EE3339-98D8-D422-873B-FBEF895E5C70}"/>
              </a:ext>
            </a:extLst>
          </p:cNvPr>
          <p:cNvSpPr txBox="1"/>
          <p:nvPr/>
        </p:nvSpPr>
        <p:spPr>
          <a:xfrm>
            <a:off x="3255338" y="52493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37D001-B26D-D1F1-D58D-2E44E1842569}"/>
              </a:ext>
            </a:extLst>
          </p:cNvPr>
          <p:cNvCxnSpPr>
            <a:cxnSpLocks/>
          </p:cNvCxnSpPr>
          <p:nvPr/>
        </p:nvCxnSpPr>
        <p:spPr>
          <a:xfrm flipH="1">
            <a:off x="3024703" y="824554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D4137E8-D708-4AED-7546-49857B6A8949}"/>
              </a:ext>
            </a:extLst>
          </p:cNvPr>
          <p:cNvCxnSpPr>
            <a:cxnSpLocks/>
          </p:cNvCxnSpPr>
          <p:nvPr/>
        </p:nvCxnSpPr>
        <p:spPr>
          <a:xfrm>
            <a:off x="3546064" y="814374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0BBB4D9-E79F-844F-64EC-AD525E755D56}"/>
              </a:ext>
            </a:extLst>
          </p:cNvPr>
          <p:cNvSpPr txBox="1"/>
          <p:nvPr/>
        </p:nvSpPr>
        <p:spPr>
          <a:xfrm>
            <a:off x="5798859" y="247264"/>
            <a:ext cx="18197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2: Missing confounder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D0BFBF-D598-16D4-CCA9-A837A67324C0}"/>
              </a:ext>
            </a:extLst>
          </p:cNvPr>
          <p:cNvSpPr txBox="1"/>
          <p:nvPr/>
        </p:nvSpPr>
        <p:spPr>
          <a:xfrm>
            <a:off x="8022797" y="1788736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U</a:t>
            </a:r>
            <a:endParaRPr lang="en-US" baseline="-25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DC6DB0-B06D-921B-E128-7F473C14B070}"/>
              </a:ext>
            </a:extLst>
          </p:cNvPr>
          <p:cNvSpPr txBox="1"/>
          <p:nvPr/>
        </p:nvSpPr>
        <p:spPr>
          <a:xfrm>
            <a:off x="787550" y="203374"/>
            <a:ext cx="165116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1: Correct case</a:t>
            </a:r>
          </a:p>
        </p:txBody>
      </p:sp>
    </p:spTree>
    <p:extLst>
      <p:ext uri="{BB962C8B-B14F-4D97-AF65-F5344CB8AC3E}">
        <p14:creationId xmlns:p14="http://schemas.microsoft.com/office/powerpoint/2010/main" val="527590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C3816F-CE2E-2189-DD3F-30D530E554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5653967"/>
              </p:ext>
            </p:extLst>
          </p:nvPr>
        </p:nvGraphicFramePr>
        <p:xfrm>
          <a:off x="994616" y="4805332"/>
          <a:ext cx="10538460" cy="3737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2820">
                  <a:extLst>
                    <a:ext uri="{9D8B030D-6E8A-4147-A177-3AD203B41FA5}">
                      <a16:colId xmlns:a16="http://schemas.microsoft.com/office/drawing/2014/main" val="3246422220"/>
                    </a:ext>
                  </a:extLst>
                </a:gridCol>
                <a:gridCol w="3238369">
                  <a:extLst>
                    <a:ext uri="{9D8B030D-6E8A-4147-A177-3AD203B41FA5}">
                      <a16:colId xmlns:a16="http://schemas.microsoft.com/office/drawing/2014/main" val="2069398382"/>
                    </a:ext>
                  </a:extLst>
                </a:gridCol>
                <a:gridCol w="3787271">
                  <a:extLst>
                    <a:ext uri="{9D8B030D-6E8A-4147-A177-3AD203B41FA5}">
                      <a16:colId xmlns:a16="http://schemas.microsoft.com/office/drawing/2014/main" val="4272982499"/>
                    </a:ext>
                  </a:extLst>
                </a:gridCol>
              </a:tblGrid>
              <a:tr h="186880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883847"/>
                  </a:ext>
                </a:extLst>
              </a:tr>
              <a:tr h="186880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5093969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E03E204-9611-4DC3-21AA-C78312444B18}"/>
              </a:ext>
            </a:extLst>
          </p:cNvPr>
          <p:cNvCxnSpPr>
            <a:cxnSpLocks/>
          </p:cNvCxnSpPr>
          <p:nvPr/>
        </p:nvCxnSpPr>
        <p:spPr>
          <a:xfrm>
            <a:off x="1352922" y="1348740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DA8B00-EFB3-0FF9-E0BF-F006A38178F8}"/>
              </a:ext>
            </a:extLst>
          </p:cNvPr>
          <p:cNvCxnSpPr>
            <a:cxnSpLocks/>
          </p:cNvCxnSpPr>
          <p:nvPr/>
        </p:nvCxnSpPr>
        <p:spPr>
          <a:xfrm flipV="1">
            <a:off x="1835084" y="1554242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B6739F6-E6E6-568C-37D2-7688432F37BF}"/>
              </a:ext>
            </a:extLst>
          </p:cNvPr>
          <p:cNvSpPr txBox="1"/>
          <p:nvPr/>
        </p:nvSpPr>
        <p:spPr>
          <a:xfrm>
            <a:off x="949852" y="116407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F90F72-98F4-112E-7485-1E63BACE0F45}"/>
              </a:ext>
            </a:extLst>
          </p:cNvPr>
          <p:cNvSpPr txBox="1"/>
          <p:nvPr/>
        </p:nvSpPr>
        <p:spPr>
          <a:xfrm>
            <a:off x="2079228" y="1184910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4E9D80-3994-3CE6-B416-49DF6DD29E27}"/>
              </a:ext>
            </a:extLst>
          </p:cNvPr>
          <p:cNvSpPr txBox="1"/>
          <p:nvPr/>
        </p:nvSpPr>
        <p:spPr>
          <a:xfrm>
            <a:off x="3860312" y="1200969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7C41FD-F0EA-FE0B-AC4E-3461C2B820F1}"/>
              </a:ext>
            </a:extLst>
          </p:cNvPr>
          <p:cNvSpPr txBox="1"/>
          <p:nvPr/>
        </p:nvSpPr>
        <p:spPr>
          <a:xfrm>
            <a:off x="1500002" y="18991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E144AD3-BC9F-41B8-DC33-AD19CE700681}"/>
              </a:ext>
            </a:extLst>
          </p:cNvPr>
          <p:cNvCxnSpPr>
            <a:cxnSpLocks/>
          </p:cNvCxnSpPr>
          <p:nvPr/>
        </p:nvCxnSpPr>
        <p:spPr>
          <a:xfrm flipH="1" flipV="1">
            <a:off x="1267568" y="1554242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344DF2-259F-B141-8C47-E69FE3A43CE6}"/>
              </a:ext>
            </a:extLst>
          </p:cNvPr>
          <p:cNvCxnSpPr>
            <a:cxnSpLocks/>
          </p:cNvCxnSpPr>
          <p:nvPr/>
        </p:nvCxnSpPr>
        <p:spPr>
          <a:xfrm flipV="1">
            <a:off x="3637624" y="1565434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A544F19-B9D0-3268-3F8D-4DFAE094DED1}"/>
              </a:ext>
            </a:extLst>
          </p:cNvPr>
          <p:cNvSpPr txBox="1"/>
          <p:nvPr/>
        </p:nvSpPr>
        <p:spPr>
          <a:xfrm>
            <a:off x="2752392" y="120096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58CBE4-C097-D2C2-7A47-384F4754333A}"/>
              </a:ext>
            </a:extLst>
          </p:cNvPr>
          <p:cNvSpPr txBox="1"/>
          <p:nvPr/>
        </p:nvSpPr>
        <p:spPr>
          <a:xfrm>
            <a:off x="3302542" y="1910358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1508A-C45B-E16F-E769-E12D7EED7F29}"/>
              </a:ext>
            </a:extLst>
          </p:cNvPr>
          <p:cNvCxnSpPr>
            <a:cxnSpLocks/>
          </p:cNvCxnSpPr>
          <p:nvPr/>
        </p:nvCxnSpPr>
        <p:spPr>
          <a:xfrm flipH="1" flipV="1">
            <a:off x="3070108" y="1565434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CF63DF5-E437-D299-4701-D7887D13A2D2}"/>
              </a:ext>
            </a:extLst>
          </p:cNvPr>
          <p:cNvSpPr txBox="1"/>
          <p:nvPr/>
        </p:nvSpPr>
        <p:spPr>
          <a:xfrm>
            <a:off x="2745722" y="16837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E5776E-EDFC-86A4-4F11-5F0551B6F2C3}"/>
              </a:ext>
            </a:extLst>
          </p:cNvPr>
          <p:cNvSpPr txBox="1"/>
          <p:nvPr/>
        </p:nvSpPr>
        <p:spPr>
          <a:xfrm>
            <a:off x="3860312" y="17465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A01338-02F5-B4BB-0564-979A4276C9CE}"/>
              </a:ext>
            </a:extLst>
          </p:cNvPr>
          <p:cNvSpPr txBox="1"/>
          <p:nvPr/>
        </p:nvSpPr>
        <p:spPr>
          <a:xfrm>
            <a:off x="2017389" y="16595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24B0A6-5724-9E75-E533-C46FD15436D2}"/>
              </a:ext>
            </a:extLst>
          </p:cNvPr>
          <p:cNvSpPr txBox="1"/>
          <p:nvPr/>
        </p:nvSpPr>
        <p:spPr>
          <a:xfrm>
            <a:off x="1010830" y="168229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E3FCEE-347E-B220-AEBC-702D7676F9E2}"/>
              </a:ext>
            </a:extLst>
          </p:cNvPr>
          <p:cNvSpPr txBox="1"/>
          <p:nvPr/>
        </p:nvSpPr>
        <p:spPr>
          <a:xfrm>
            <a:off x="1476747" y="508874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0FC7EDD-217B-F484-2830-21C7E62845B0}"/>
              </a:ext>
            </a:extLst>
          </p:cNvPr>
          <p:cNvCxnSpPr>
            <a:cxnSpLocks/>
          </p:cNvCxnSpPr>
          <p:nvPr/>
        </p:nvCxnSpPr>
        <p:spPr>
          <a:xfrm flipH="1">
            <a:off x="1246112" y="808495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8FFC72C-F120-B362-DEB5-5985B5E344E3}"/>
              </a:ext>
            </a:extLst>
          </p:cNvPr>
          <p:cNvCxnSpPr>
            <a:cxnSpLocks/>
          </p:cNvCxnSpPr>
          <p:nvPr/>
        </p:nvCxnSpPr>
        <p:spPr>
          <a:xfrm>
            <a:off x="1767473" y="798315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33775A9-588A-A983-50DE-FEBCD95EA5DE}"/>
              </a:ext>
            </a:extLst>
          </p:cNvPr>
          <p:cNvSpPr txBox="1"/>
          <p:nvPr/>
        </p:nvSpPr>
        <p:spPr>
          <a:xfrm>
            <a:off x="3255338" y="52493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BC05109-A11B-F184-DB67-83280A05E6FE}"/>
              </a:ext>
            </a:extLst>
          </p:cNvPr>
          <p:cNvCxnSpPr>
            <a:cxnSpLocks/>
          </p:cNvCxnSpPr>
          <p:nvPr/>
        </p:nvCxnSpPr>
        <p:spPr>
          <a:xfrm flipH="1">
            <a:off x="3024703" y="824554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C1669D-D369-14EB-0B41-5B6420BCA0BD}"/>
              </a:ext>
            </a:extLst>
          </p:cNvPr>
          <p:cNvCxnSpPr>
            <a:cxnSpLocks/>
          </p:cNvCxnSpPr>
          <p:nvPr/>
        </p:nvCxnSpPr>
        <p:spPr>
          <a:xfrm>
            <a:off x="3546064" y="814374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42CE9DD-8AB6-44D6-1978-F21BAB928C63}"/>
              </a:ext>
            </a:extLst>
          </p:cNvPr>
          <p:cNvSpPr txBox="1"/>
          <p:nvPr/>
        </p:nvSpPr>
        <p:spPr>
          <a:xfrm>
            <a:off x="7430037" y="1165548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29C16B-D74E-6620-7502-3F1295AD34DB}"/>
              </a:ext>
            </a:extLst>
          </p:cNvPr>
          <p:cNvSpPr txBox="1"/>
          <p:nvPr/>
        </p:nvSpPr>
        <p:spPr>
          <a:xfrm>
            <a:off x="6322117" y="116554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735976-2480-E3B8-E735-42D5E3B4E55E}"/>
              </a:ext>
            </a:extLst>
          </p:cNvPr>
          <p:cNvSpPr txBox="1"/>
          <p:nvPr/>
        </p:nvSpPr>
        <p:spPr>
          <a:xfrm>
            <a:off x="6825063" y="48951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AE4EB4-BBDB-9066-9769-9DCB15E361C4}"/>
              </a:ext>
            </a:extLst>
          </p:cNvPr>
          <p:cNvCxnSpPr>
            <a:cxnSpLocks/>
          </p:cNvCxnSpPr>
          <p:nvPr/>
        </p:nvCxnSpPr>
        <p:spPr>
          <a:xfrm flipH="1">
            <a:off x="6594428" y="789133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01C570A-E1F5-18AE-C6B9-093CEE452ECA}"/>
              </a:ext>
            </a:extLst>
          </p:cNvPr>
          <p:cNvCxnSpPr>
            <a:cxnSpLocks/>
          </p:cNvCxnSpPr>
          <p:nvPr/>
        </p:nvCxnSpPr>
        <p:spPr>
          <a:xfrm>
            <a:off x="7115789" y="778953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1E52E4-82BF-C316-3E8F-B1A723AD8E80}"/>
              </a:ext>
            </a:extLst>
          </p:cNvPr>
          <p:cNvCxnSpPr>
            <a:cxnSpLocks/>
          </p:cNvCxnSpPr>
          <p:nvPr/>
        </p:nvCxnSpPr>
        <p:spPr>
          <a:xfrm>
            <a:off x="4958070" y="1357417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3E5D96A-3D58-DA6C-FD8C-71E82FB876C7}"/>
              </a:ext>
            </a:extLst>
          </p:cNvPr>
          <p:cNvCxnSpPr>
            <a:cxnSpLocks/>
          </p:cNvCxnSpPr>
          <p:nvPr/>
        </p:nvCxnSpPr>
        <p:spPr>
          <a:xfrm flipV="1">
            <a:off x="5440232" y="156291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3EBD23-4881-388A-774D-0DE777FD3763}"/>
              </a:ext>
            </a:extLst>
          </p:cNvPr>
          <p:cNvSpPr txBox="1"/>
          <p:nvPr/>
        </p:nvSpPr>
        <p:spPr>
          <a:xfrm>
            <a:off x="4555000" y="117275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823FE0-57D7-2E21-9952-AE9358945AF4}"/>
              </a:ext>
            </a:extLst>
          </p:cNvPr>
          <p:cNvSpPr txBox="1"/>
          <p:nvPr/>
        </p:nvSpPr>
        <p:spPr>
          <a:xfrm>
            <a:off x="5684376" y="119358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F46D1-7654-61B3-853F-E820855F5FB7}"/>
              </a:ext>
            </a:extLst>
          </p:cNvPr>
          <p:cNvSpPr txBox="1"/>
          <p:nvPr/>
        </p:nvSpPr>
        <p:spPr>
          <a:xfrm>
            <a:off x="5105150" y="190784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9E29E7D-45B7-BE5C-78F6-CFA18E8C8A54}"/>
              </a:ext>
            </a:extLst>
          </p:cNvPr>
          <p:cNvCxnSpPr>
            <a:cxnSpLocks/>
          </p:cNvCxnSpPr>
          <p:nvPr/>
        </p:nvCxnSpPr>
        <p:spPr>
          <a:xfrm flipH="1" flipV="1">
            <a:off x="4872716" y="1562919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364A6DC-C0EB-34CC-1B29-DF618AD27657}"/>
              </a:ext>
            </a:extLst>
          </p:cNvPr>
          <p:cNvSpPr txBox="1"/>
          <p:nvPr/>
        </p:nvSpPr>
        <p:spPr>
          <a:xfrm>
            <a:off x="5081895" y="517551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1239C8D-A56D-E23D-659A-52C81A547A50}"/>
              </a:ext>
            </a:extLst>
          </p:cNvPr>
          <p:cNvCxnSpPr>
            <a:cxnSpLocks/>
          </p:cNvCxnSpPr>
          <p:nvPr/>
        </p:nvCxnSpPr>
        <p:spPr>
          <a:xfrm flipH="1">
            <a:off x="4851260" y="817172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234E90C-6F74-594E-0DC9-A2655D15AF3D}"/>
              </a:ext>
            </a:extLst>
          </p:cNvPr>
          <p:cNvCxnSpPr>
            <a:cxnSpLocks/>
          </p:cNvCxnSpPr>
          <p:nvPr/>
        </p:nvCxnSpPr>
        <p:spPr>
          <a:xfrm>
            <a:off x="5372621" y="806992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955CA5-F890-F23F-AB57-5860B6C381CB}"/>
              </a:ext>
            </a:extLst>
          </p:cNvPr>
          <p:cNvCxnSpPr>
            <a:cxnSpLocks/>
          </p:cNvCxnSpPr>
          <p:nvPr/>
        </p:nvCxnSpPr>
        <p:spPr>
          <a:xfrm>
            <a:off x="8214235" y="958573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0E2B0C3-46C4-A20E-17B5-95E6B333F963}"/>
              </a:ext>
            </a:extLst>
          </p:cNvPr>
          <p:cNvCxnSpPr>
            <a:cxnSpLocks/>
          </p:cNvCxnSpPr>
          <p:nvPr/>
        </p:nvCxnSpPr>
        <p:spPr>
          <a:xfrm flipV="1">
            <a:off x="8696397" y="1164075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F1008FB-4B6B-BC08-506D-310543FCD149}"/>
              </a:ext>
            </a:extLst>
          </p:cNvPr>
          <p:cNvSpPr txBox="1"/>
          <p:nvPr/>
        </p:nvSpPr>
        <p:spPr>
          <a:xfrm>
            <a:off x="7811165" y="7739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868B15-2757-2F0C-FEBF-DD685AF58D79}"/>
              </a:ext>
            </a:extLst>
          </p:cNvPr>
          <p:cNvSpPr txBox="1"/>
          <p:nvPr/>
        </p:nvSpPr>
        <p:spPr>
          <a:xfrm>
            <a:off x="8940541" y="794743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2E396F-A975-96BB-A5A4-B25A2915942A}"/>
              </a:ext>
            </a:extLst>
          </p:cNvPr>
          <p:cNvSpPr txBox="1"/>
          <p:nvPr/>
        </p:nvSpPr>
        <p:spPr>
          <a:xfrm>
            <a:off x="8361315" y="150899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6EB8C70-916E-455A-C658-B5DE88362A7F}"/>
              </a:ext>
            </a:extLst>
          </p:cNvPr>
          <p:cNvCxnSpPr>
            <a:cxnSpLocks/>
          </p:cNvCxnSpPr>
          <p:nvPr/>
        </p:nvCxnSpPr>
        <p:spPr>
          <a:xfrm flipH="1" flipV="1">
            <a:off x="8128881" y="1164075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98D819A-ACC4-CE53-A991-A85590C79E87}"/>
              </a:ext>
            </a:extLst>
          </p:cNvPr>
          <p:cNvSpPr txBox="1"/>
          <p:nvPr/>
        </p:nvSpPr>
        <p:spPr>
          <a:xfrm>
            <a:off x="8878702" y="12693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D86386-66A9-C72D-FB1D-68E97E4B53A3}"/>
              </a:ext>
            </a:extLst>
          </p:cNvPr>
          <p:cNvSpPr txBox="1"/>
          <p:nvPr/>
        </p:nvSpPr>
        <p:spPr>
          <a:xfrm>
            <a:off x="7872143" y="129212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5484FD-FD5D-D86D-BCD0-F437F4CD9F7C}"/>
              </a:ext>
            </a:extLst>
          </p:cNvPr>
          <p:cNvSpPr txBox="1"/>
          <p:nvPr/>
        </p:nvSpPr>
        <p:spPr>
          <a:xfrm>
            <a:off x="10510501" y="79111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5EC9058-7A88-43EB-E7FD-E9D51237DB06}"/>
              </a:ext>
            </a:extLst>
          </p:cNvPr>
          <p:cNvCxnSpPr>
            <a:cxnSpLocks/>
          </p:cNvCxnSpPr>
          <p:nvPr/>
        </p:nvCxnSpPr>
        <p:spPr>
          <a:xfrm flipV="1">
            <a:off x="10287813" y="118127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1698940-419D-CD1E-CEE5-20F495856D75}"/>
              </a:ext>
            </a:extLst>
          </p:cNvPr>
          <p:cNvSpPr txBox="1"/>
          <p:nvPr/>
        </p:nvSpPr>
        <p:spPr>
          <a:xfrm>
            <a:off x="9402581" y="79111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B6F1CF-F72E-5F7A-73B8-ABF93ED5671B}"/>
              </a:ext>
            </a:extLst>
          </p:cNvPr>
          <p:cNvSpPr txBox="1"/>
          <p:nvPr/>
        </p:nvSpPr>
        <p:spPr>
          <a:xfrm>
            <a:off x="9952731" y="152620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D6D89B7-7B02-D521-B8EA-6A3021B4720C}"/>
              </a:ext>
            </a:extLst>
          </p:cNvPr>
          <p:cNvCxnSpPr>
            <a:cxnSpLocks/>
          </p:cNvCxnSpPr>
          <p:nvPr/>
        </p:nvCxnSpPr>
        <p:spPr>
          <a:xfrm flipH="1" flipV="1">
            <a:off x="9720297" y="1181279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E9E7D5E-BA80-443E-FAE9-CA1CA763023B}"/>
              </a:ext>
            </a:extLst>
          </p:cNvPr>
          <p:cNvSpPr txBox="1"/>
          <p:nvPr/>
        </p:nvSpPr>
        <p:spPr>
          <a:xfrm>
            <a:off x="9395911" y="129962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54A1A3-4EB5-BCA9-C013-E219982247F8}"/>
              </a:ext>
            </a:extLst>
          </p:cNvPr>
          <p:cNvSpPr txBox="1"/>
          <p:nvPr/>
        </p:nvSpPr>
        <p:spPr>
          <a:xfrm>
            <a:off x="10510501" y="13623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42DD41-CB14-A896-3749-61E2EE122AE4}"/>
              </a:ext>
            </a:extLst>
          </p:cNvPr>
          <p:cNvSpPr txBox="1"/>
          <p:nvPr/>
        </p:nvSpPr>
        <p:spPr>
          <a:xfrm>
            <a:off x="8797340" y="1476793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E8C8250-5842-603F-1D5E-2426C759469F}"/>
              </a:ext>
            </a:extLst>
          </p:cNvPr>
          <p:cNvSpPr txBox="1"/>
          <p:nvPr/>
        </p:nvSpPr>
        <p:spPr>
          <a:xfrm>
            <a:off x="10409885" y="1571953"/>
            <a:ext cx="5389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linear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B3864E-C675-405D-5580-DDD62AD69451}"/>
              </a:ext>
            </a:extLst>
          </p:cNvPr>
          <p:cNvSpPr txBox="1"/>
          <p:nvPr/>
        </p:nvSpPr>
        <p:spPr>
          <a:xfrm>
            <a:off x="826770" y="152460"/>
            <a:ext cx="165116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1: Correct case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D3294C-5314-ABD1-9CDA-1072F89EE19A}"/>
              </a:ext>
            </a:extLst>
          </p:cNvPr>
          <p:cNvSpPr txBox="1"/>
          <p:nvPr/>
        </p:nvSpPr>
        <p:spPr>
          <a:xfrm>
            <a:off x="4330085" y="147741"/>
            <a:ext cx="199203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2: Missing confounder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C9C09D5-811F-8B83-8405-4D7AE957D054}"/>
              </a:ext>
            </a:extLst>
          </p:cNvPr>
          <p:cNvSpPr txBox="1"/>
          <p:nvPr/>
        </p:nvSpPr>
        <p:spPr>
          <a:xfrm>
            <a:off x="7838220" y="125760"/>
            <a:ext cx="199203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3: Modelling error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5E5BAA6-E158-6D02-4E75-ED9A93186097}"/>
              </a:ext>
            </a:extLst>
          </p:cNvPr>
          <p:cNvCxnSpPr>
            <a:cxnSpLocks/>
          </p:cNvCxnSpPr>
          <p:nvPr/>
        </p:nvCxnSpPr>
        <p:spPr>
          <a:xfrm>
            <a:off x="1181633" y="2748788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CB4FAD0-3290-DD66-0127-468C4F311BCE}"/>
              </a:ext>
            </a:extLst>
          </p:cNvPr>
          <p:cNvCxnSpPr>
            <a:cxnSpLocks/>
          </p:cNvCxnSpPr>
          <p:nvPr/>
        </p:nvCxnSpPr>
        <p:spPr>
          <a:xfrm flipV="1">
            <a:off x="1663795" y="2954290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5FD1BD6A-3FC9-7E36-84FF-7503124E8490}"/>
              </a:ext>
            </a:extLst>
          </p:cNvPr>
          <p:cNvSpPr txBox="1"/>
          <p:nvPr/>
        </p:nvSpPr>
        <p:spPr>
          <a:xfrm>
            <a:off x="778563" y="256412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8AE3D2A-48C9-3CDC-6D8D-99E3CDDF24EA}"/>
              </a:ext>
            </a:extLst>
          </p:cNvPr>
          <p:cNvSpPr txBox="1"/>
          <p:nvPr/>
        </p:nvSpPr>
        <p:spPr>
          <a:xfrm>
            <a:off x="1907939" y="258495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D0AF28-7E68-CBB3-82B6-F4014590A90F}"/>
              </a:ext>
            </a:extLst>
          </p:cNvPr>
          <p:cNvSpPr txBox="1"/>
          <p:nvPr/>
        </p:nvSpPr>
        <p:spPr>
          <a:xfrm>
            <a:off x="1328713" y="3299214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2268D5A-11D7-63A9-C4D4-D89BCC4B9750}"/>
              </a:ext>
            </a:extLst>
          </p:cNvPr>
          <p:cNvCxnSpPr>
            <a:cxnSpLocks/>
          </p:cNvCxnSpPr>
          <p:nvPr/>
        </p:nvCxnSpPr>
        <p:spPr>
          <a:xfrm flipH="1" flipV="1">
            <a:off x="1096279" y="2954290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64EEB5CA-88A3-ACC9-91AF-CCD809352DDE}"/>
              </a:ext>
            </a:extLst>
          </p:cNvPr>
          <p:cNvSpPr txBox="1"/>
          <p:nvPr/>
        </p:nvSpPr>
        <p:spPr>
          <a:xfrm>
            <a:off x="1846100" y="30596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48635A-D70A-1AD9-9A42-AD967654C73D}"/>
              </a:ext>
            </a:extLst>
          </p:cNvPr>
          <p:cNvSpPr txBox="1"/>
          <p:nvPr/>
        </p:nvSpPr>
        <p:spPr>
          <a:xfrm>
            <a:off x="839541" y="308234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2A56E0-38E6-6D6B-138F-908448A7C1DE}"/>
              </a:ext>
            </a:extLst>
          </p:cNvPr>
          <p:cNvSpPr txBox="1"/>
          <p:nvPr/>
        </p:nvSpPr>
        <p:spPr>
          <a:xfrm>
            <a:off x="875329" y="3604914"/>
            <a:ext cx="1439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L measured with measurement error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AD5B7B-CD50-AB32-D119-52FD53A99F79}"/>
              </a:ext>
            </a:extLst>
          </p:cNvPr>
          <p:cNvSpPr txBox="1"/>
          <p:nvPr/>
        </p:nvSpPr>
        <p:spPr>
          <a:xfrm>
            <a:off x="3840649" y="256879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58904CF-9574-0C3F-6955-30C0D0848370}"/>
              </a:ext>
            </a:extLst>
          </p:cNvPr>
          <p:cNvCxnSpPr>
            <a:cxnSpLocks/>
          </p:cNvCxnSpPr>
          <p:nvPr/>
        </p:nvCxnSpPr>
        <p:spPr>
          <a:xfrm flipV="1">
            <a:off x="3617961" y="295895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64FE471C-FF83-972A-A99F-175FB9EB50FC}"/>
              </a:ext>
            </a:extLst>
          </p:cNvPr>
          <p:cNvSpPr txBox="1"/>
          <p:nvPr/>
        </p:nvSpPr>
        <p:spPr>
          <a:xfrm>
            <a:off x="2732729" y="2568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8225E6C-7DF9-9855-79FB-D6D7686D1418}"/>
              </a:ext>
            </a:extLst>
          </p:cNvPr>
          <p:cNvSpPr txBox="1"/>
          <p:nvPr/>
        </p:nvSpPr>
        <p:spPr>
          <a:xfrm>
            <a:off x="3282879" y="330388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89F6F6A-FE0B-256E-903D-74E8A503809D}"/>
              </a:ext>
            </a:extLst>
          </p:cNvPr>
          <p:cNvCxnSpPr>
            <a:cxnSpLocks/>
          </p:cNvCxnSpPr>
          <p:nvPr/>
        </p:nvCxnSpPr>
        <p:spPr>
          <a:xfrm flipH="1" flipV="1">
            <a:off x="3022935" y="2929075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67A9954-8B30-6BB3-81F3-E045BFCCEE3F}"/>
              </a:ext>
            </a:extLst>
          </p:cNvPr>
          <p:cNvSpPr txBox="1"/>
          <p:nvPr/>
        </p:nvSpPr>
        <p:spPr>
          <a:xfrm>
            <a:off x="2726059" y="307730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C3B0CD9-12CA-9242-5BC7-79F29C094ED1}"/>
              </a:ext>
            </a:extLst>
          </p:cNvPr>
          <p:cNvSpPr txBox="1"/>
          <p:nvPr/>
        </p:nvSpPr>
        <p:spPr>
          <a:xfrm>
            <a:off x="3840649" y="314005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878532-25FF-58FA-AD86-1358FFDD0B04}"/>
              </a:ext>
            </a:extLst>
          </p:cNvPr>
          <p:cNvSpPr txBox="1"/>
          <p:nvPr/>
        </p:nvSpPr>
        <p:spPr>
          <a:xfrm>
            <a:off x="2876100" y="3584002"/>
            <a:ext cx="1588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no measurement error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E582FC-D26E-1ED6-1957-D8F8D93318AF}"/>
              </a:ext>
            </a:extLst>
          </p:cNvPr>
          <p:cNvSpPr txBox="1"/>
          <p:nvPr/>
        </p:nvSpPr>
        <p:spPr>
          <a:xfrm>
            <a:off x="792388" y="4161245"/>
            <a:ext cx="20837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4: Measurement error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498D86C-4361-4BD4-7863-7539BB0EBEA9}"/>
              </a:ext>
            </a:extLst>
          </p:cNvPr>
          <p:cNvCxnSpPr>
            <a:cxnSpLocks/>
          </p:cNvCxnSpPr>
          <p:nvPr/>
        </p:nvCxnSpPr>
        <p:spPr>
          <a:xfrm>
            <a:off x="4758603" y="2802109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456AB6D-BB64-BE56-5792-69E09AA7534C}"/>
              </a:ext>
            </a:extLst>
          </p:cNvPr>
          <p:cNvCxnSpPr>
            <a:cxnSpLocks/>
          </p:cNvCxnSpPr>
          <p:nvPr/>
        </p:nvCxnSpPr>
        <p:spPr>
          <a:xfrm flipV="1">
            <a:off x="5240765" y="3007611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C13B0804-82E9-F4C2-F4DE-28383044D55C}"/>
              </a:ext>
            </a:extLst>
          </p:cNvPr>
          <p:cNvSpPr txBox="1"/>
          <p:nvPr/>
        </p:nvSpPr>
        <p:spPr>
          <a:xfrm>
            <a:off x="4355533" y="261744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81B9CCA-DBE5-5F81-1016-41C1144144C4}"/>
              </a:ext>
            </a:extLst>
          </p:cNvPr>
          <p:cNvSpPr txBox="1"/>
          <p:nvPr/>
        </p:nvSpPr>
        <p:spPr>
          <a:xfrm>
            <a:off x="5484909" y="2638279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BD5E61-ED9A-A190-94A3-4795E79205A2}"/>
              </a:ext>
            </a:extLst>
          </p:cNvPr>
          <p:cNvSpPr txBox="1"/>
          <p:nvPr/>
        </p:nvSpPr>
        <p:spPr>
          <a:xfrm>
            <a:off x="4905683" y="335253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7B695BA-73EA-ADF9-0299-BD3F546EF43E}"/>
              </a:ext>
            </a:extLst>
          </p:cNvPr>
          <p:cNvCxnSpPr>
            <a:cxnSpLocks/>
          </p:cNvCxnSpPr>
          <p:nvPr/>
        </p:nvCxnSpPr>
        <p:spPr>
          <a:xfrm flipH="1" flipV="1">
            <a:off x="4673249" y="3007611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1D8AEE1-89E3-7D5C-1672-4540FA6F8F4E}"/>
              </a:ext>
            </a:extLst>
          </p:cNvPr>
          <p:cNvSpPr txBox="1"/>
          <p:nvPr/>
        </p:nvSpPr>
        <p:spPr>
          <a:xfrm>
            <a:off x="4416511" y="313566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3C3792C-0CEC-0296-B02B-722424192326}"/>
              </a:ext>
            </a:extLst>
          </p:cNvPr>
          <p:cNvSpPr txBox="1"/>
          <p:nvPr/>
        </p:nvSpPr>
        <p:spPr>
          <a:xfrm>
            <a:off x="4412783" y="3591085"/>
            <a:ext cx="1439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strong association between U and Y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62ABE6B-F2D9-5784-E6DF-7D4D51BC557F}"/>
              </a:ext>
            </a:extLst>
          </p:cNvPr>
          <p:cNvSpPr txBox="1"/>
          <p:nvPr/>
        </p:nvSpPr>
        <p:spPr>
          <a:xfrm>
            <a:off x="7220790" y="255937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71A0A3F-8DFE-3B20-15C0-10F7819787C2}"/>
              </a:ext>
            </a:extLst>
          </p:cNvPr>
          <p:cNvCxnSpPr>
            <a:cxnSpLocks/>
          </p:cNvCxnSpPr>
          <p:nvPr/>
        </p:nvCxnSpPr>
        <p:spPr>
          <a:xfrm flipV="1">
            <a:off x="6998102" y="294953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562E938-FBA1-B956-5F26-76E225214250}"/>
              </a:ext>
            </a:extLst>
          </p:cNvPr>
          <p:cNvSpPr txBox="1"/>
          <p:nvPr/>
        </p:nvSpPr>
        <p:spPr>
          <a:xfrm>
            <a:off x="6112870" y="255937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8C763CB-FF14-9A68-1B2E-1C0255C64002}"/>
              </a:ext>
            </a:extLst>
          </p:cNvPr>
          <p:cNvSpPr txBox="1"/>
          <p:nvPr/>
        </p:nvSpPr>
        <p:spPr>
          <a:xfrm>
            <a:off x="6663020" y="329446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6669CAC-271B-8D27-9127-7A3A79E6E42E}"/>
              </a:ext>
            </a:extLst>
          </p:cNvPr>
          <p:cNvCxnSpPr>
            <a:cxnSpLocks/>
          </p:cNvCxnSpPr>
          <p:nvPr/>
        </p:nvCxnSpPr>
        <p:spPr>
          <a:xfrm flipH="1" flipV="1">
            <a:off x="6430586" y="294953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83BCB715-F0D1-9609-A4AA-C1040F84CCF4}"/>
              </a:ext>
            </a:extLst>
          </p:cNvPr>
          <p:cNvSpPr txBox="1"/>
          <p:nvPr/>
        </p:nvSpPr>
        <p:spPr>
          <a:xfrm>
            <a:off x="6106200" y="306788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B175C3C-548C-F2D3-3CD0-6EF49BF6618A}"/>
              </a:ext>
            </a:extLst>
          </p:cNvPr>
          <p:cNvSpPr txBox="1"/>
          <p:nvPr/>
        </p:nvSpPr>
        <p:spPr>
          <a:xfrm>
            <a:off x="7220790" y="313063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251EC7E-5FF4-7E94-641D-BB00ECF3C1E0}"/>
              </a:ext>
            </a:extLst>
          </p:cNvPr>
          <p:cNvSpPr txBox="1"/>
          <p:nvPr/>
        </p:nvSpPr>
        <p:spPr>
          <a:xfrm>
            <a:off x="6332099" y="3610829"/>
            <a:ext cx="1567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weak association between U and 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1D25267-3062-7E93-C733-2B0BA32F5144}"/>
              </a:ext>
            </a:extLst>
          </p:cNvPr>
          <p:cNvSpPr txBox="1"/>
          <p:nvPr/>
        </p:nvSpPr>
        <p:spPr>
          <a:xfrm>
            <a:off x="4355533" y="4157046"/>
            <a:ext cx="20837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5: Weak negative control 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CCC326D-DF9B-7813-6463-78F1A41871DF}"/>
              </a:ext>
            </a:extLst>
          </p:cNvPr>
          <p:cNvCxnSpPr>
            <a:cxnSpLocks/>
          </p:cNvCxnSpPr>
          <p:nvPr/>
        </p:nvCxnSpPr>
        <p:spPr>
          <a:xfrm>
            <a:off x="8316298" y="2729827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4546D18-ECF3-B207-3032-977E9B46CF7F}"/>
              </a:ext>
            </a:extLst>
          </p:cNvPr>
          <p:cNvCxnSpPr>
            <a:cxnSpLocks/>
          </p:cNvCxnSpPr>
          <p:nvPr/>
        </p:nvCxnSpPr>
        <p:spPr>
          <a:xfrm flipV="1">
            <a:off x="8798460" y="293532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663A950-48B7-E16A-FE94-648EFBDF039F}"/>
              </a:ext>
            </a:extLst>
          </p:cNvPr>
          <p:cNvSpPr txBox="1"/>
          <p:nvPr/>
        </p:nvSpPr>
        <p:spPr>
          <a:xfrm>
            <a:off x="7913228" y="254516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67DC9C2-3CEA-46A2-4D74-D08CCF370FF6}"/>
              </a:ext>
            </a:extLst>
          </p:cNvPr>
          <p:cNvSpPr txBox="1"/>
          <p:nvPr/>
        </p:nvSpPr>
        <p:spPr>
          <a:xfrm>
            <a:off x="9042604" y="256599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31AA010-55C9-7B09-3CAF-8C0B57A847BC}"/>
              </a:ext>
            </a:extLst>
          </p:cNvPr>
          <p:cNvSpPr txBox="1"/>
          <p:nvPr/>
        </p:nvSpPr>
        <p:spPr>
          <a:xfrm>
            <a:off x="8463378" y="328025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8AF8D0E1-61E7-98F8-97DA-7ED8A89FF621}"/>
              </a:ext>
            </a:extLst>
          </p:cNvPr>
          <p:cNvCxnSpPr>
            <a:cxnSpLocks/>
          </p:cNvCxnSpPr>
          <p:nvPr/>
        </p:nvCxnSpPr>
        <p:spPr>
          <a:xfrm flipH="1" flipV="1">
            <a:off x="8230944" y="2935329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7C1200A4-5FB3-A392-1AEB-03ED76FD7875}"/>
              </a:ext>
            </a:extLst>
          </p:cNvPr>
          <p:cNvSpPr txBox="1"/>
          <p:nvPr/>
        </p:nvSpPr>
        <p:spPr>
          <a:xfrm>
            <a:off x="8980765" y="304063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F99D39B-0227-4CCD-C676-B6756F4D9A01}"/>
              </a:ext>
            </a:extLst>
          </p:cNvPr>
          <p:cNvSpPr txBox="1"/>
          <p:nvPr/>
        </p:nvSpPr>
        <p:spPr>
          <a:xfrm>
            <a:off x="7974206" y="306338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CA14A21-3C6B-25A0-E63D-9BB5CB709995}"/>
              </a:ext>
            </a:extLst>
          </p:cNvPr>
          <p:cNvSpPr txBox="1"/>
          <p:nvPr/>
        </p:nvSpPr>
        <p:spPr>
          <a:xfrm>
            <a:off x="10388078" y="2566839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AD511C4F-A9CE-81DD-AD94-935FF27EFDF0}"/>
              </a:ext>
            </a:extLst>
          </p:cNvPr>
          <p:cNvCxnSpPr>
            <a:cxnSpLocks/>
          </p:cNvCxnSpPr>
          <p:nvPr/>
        </p:nvCxnSpPr>
        <p:spPr>
          <a:xfrm flipV="1">
            <a:off x="10165390" y="2931304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8E52F392-3BA7-C89B-42D6-012E0897F159}"/>
              </a:ext>
            </a:extLst>
          </p:cNvPr>
          <p:cNvSpPr txBox="1"/>
          <p:nvPr/>
        </p:nvSpPr>
        <p:spPr>
          <a:xfrm>
            <a:off x="9280158" y="25668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14DD44C-01B9-B686-3432-1EC7AFFFF7DD}"/>
              </a:ext>
            </a:extLst>
          </p:cNvPr>
          <p:cNvSpPr txBox="1"/>
          <p:nvPr/>
        </p:nvSpPr>
        <p:spPr>
          <a:xfrm>
            <a:off x="9830308" y="3276228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870A9EEE-30A3-C436-CFFF-9774D6F9247E}"/>
              </a:ext>
            </a:extLst>
          </p:cNvPr>
          <p:cNvCxnSpPr>
            <a:cxnSpLocks/>
          </p:cNvCxnSpPr>
          <p:nvPr/>
        </p:nvCxnSpPr>
        <p:spPr>
          <a:xfrm flipH="1" flipV="1">
            <a:off x="9597874" y="2931304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114EE0BC-7381-9D0B-5D2B-CF3B76F5D2B5}"/>
              </a:ext>
            </a:extLst>
          </p:cNvPr>
          <p:cNvSpPr txBox="1"/>
          <p:nvPr/>
        </p:nvSpPr>
        <p:spPr>
          <a:xfrm>
            <a:off x="9273488" y="30496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D77C5CF-DE47-DF0A-9EC9-52A77C1F206C}"/>
              </a:ext>
            </a:extLst>
          </p:cNvPr>
          <p:cNvSpPr txBox="1"/>
          <p:nvPr/>
        </p:nvSpPr>
        <p:spPr>
          <a:xfrm>
            <a:off x="10388078" y="3112398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26FDC9-A45C-6BB6-7228-E342D92A36EC}"/>
              </a:ext>
            </a:extLst>
          </p:cNvPr>
          <p:cNvSpPr txBox="1"/>
          <p:nvPr/>
        </p:nvSpPr>
        <p:spPr>
          <a:xfrm>
            <a:off x="7898685" y="4161245"/>
            <a:ext cx="20837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6: </a:t>
            </a:r>
            <a:r>
              <a:rPr lang="en-US" sz="1300">
                <a:latin typeface="Arial" panose="020B0604020202020204" pitchFamily="34" charset="0"/>
                <a:cs typeface="Arial" panose="020B0604020202020204" pitchFamily="34" charset="0"/>
              </a:rPr>
              <a:t>Negative association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38DFD7-FB31-FA60-88B2-379BA4AF7558}"/>
              </a:ext>
            </a:extLst>
          </p:cNvPr>
          <p:cNvSpPr txBox="1"/>
          <p:nvPr/>
        </p:nvSpPr>
        <p:spPr>
          <a:xfrm>
            <a:off x="7772848" y="1490425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D4CEB4-032F-64F3-6679-D4C2A5E3AA6B}"/>
              </a:ext>
            </a:extLst>
          </p:cNvPr>
          <p:cNvSpPr txBox="1"/>
          <p:nvPr/>
        </p:nvSpPr>
        <p:spPr>
          <a:xfrm>
            <a:off x="9367509" y="1484293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9F4580-DB2E-EDF3-D1E6-544C92A48441}"/>
              </a:ext>
            </a:extLst>
          </p:cNvPr>
          <p:cNvSpPr txBox="1"/>
          <p:nvPr/>
        </p:nvSpPr>
        <p:spPr>
          <a:xfrm>
            <a:off x="5396753" y="31362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548672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85215-1700-5481-902C-5DDC89F9D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14A14CF-CE65-5DE4-9C2E-F50F716A0F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2014156"/>
              </p:ext>
            </p:extLst>
          </p:nvPr>
        </p:nvGraphicFramePr>
        <p:xfrm>
          <a:off x="563584" y="5068878"/>
          <a:ext cx="10538460" cy="3737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2820">
                  <a:extLst>
                    <a:ext uri="{9D8B030D-6E8A-4147-A177-3AD203B41FA5}">
                      <a16:colId xmlns:a16="http://schemas.microsoft.com/office/drawing/2014/main" val="3246422220"/>
                    </a:ext>
                  </a:extLst>
                </a:gridCol>
                <a:gridCol w="3512820">
                  <a:extLst>
                    <a:ext uri="{9D8B030D-6E8A-4147-A177-3AD203B41FA5}">
                      <a16:colId xmlns:a16="http://schemas.microsoft.com/office/drawing/2014/main" val="2069398382"/>
                    </a:ext>
                  </a:extLst>
                </a:gridCol>
                <a:gridCol w="3512820">
                  <a:extLst>
                    <a:ext uri="{9D8B030D-6E8A-4147-A177-3AD203B41FA5}">
                      <a16:colId xmlns:a16="http://schemas.microsoft.com/office/drawing/2014/main" val="4272982499"/>
                    </a:ext>
                  </a:extLst>
                </a:gridCol>
              </a:tblGrid>
              <a:tr h="186880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883847"/>
                  </a:ext>
                </a:extLst>
              </a:tr>
              <a:tr h="186880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5093969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31FD2-7488-93CF-EFB1-EDC5B9BFF1B2}"/>
              </a:ext>
            </a:extLst>
          </p:cNvPr>
          <p:cNvCxnSpPr>
            <a:cxnSpLocks/>
          </p:cNvCxnSpPr>
          <p:nvPr/>
        </p:nvCxnSpPr>
        <p:spPr>
          <a:xfrm>
            <a:off x="671811" y="1282916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E2E8475-F057-0EB0-9F1E-7CB8DFC7A518}"/>
              </a:ext>
            </a:extLst>
          </p:cNvPr>
          <p:cNvCxnSpPr>
            <a:cxnSpLocks/>
          </p:cNvCxnSpPr>
          <p:nvPr/>
        </p:nvCxnSpPr>
        <p:spPr>
          <a:xfrm flipV="1">
            <a:off x="1153973" y="148841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03DAC72-4F24-9D58-AC9A-FFA6410129C6}"/>
              </a:ext>
            </a:extLst>
          </p:cNvPr>
          <p:cNvSpPr txBox="1"/>
          <p:nvPr/>
        </p:nvSpPr>
        <p:spPr>
          <a:xfrm>
            <a:off x="268741" y="109825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7DF46A-1D8C-28B0-CEF3-262B7CB8BEF3}"/>
              </a:ext>
            </a:extLst>
          </p:cNvPr>
          <p:cNvSpPr txBox="1"/>
          <p:nvPr/>
        </p:nvSpPr>
        <p:spPr>
          <a:xfrm>
            <a:off x="1398117" y="1119086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C7B4D-8964-A67B-4614-D7B2F88A6C63}"/>
              </a:ext>
            </a:extLst>
          </p:cNvPr>
          <p:cNvSpPr txBox="1"/>
          <p:nvPr/>
        </p:nvSpPr>
        <p:spPr>
          <a:xfrm>
            <a:off x="3565733" y="1095146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6B72A1-922B-C7AE-E2BA-099C5F028009}"/>
              </a:ext>
            </a:extLst>
          </p:cNvPr>
          <p:cNvSpPr txBox="1"/>
          <p:nvPr/>
        </p:nvSpPr>
        <p:spPr>
          <a:xfrm>
            <a:off x="818891" y="183334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58332E4-0F1B-43E3-4704-3005B88EF37D}"/>
              </a:ext>
            </a:extLst>
          </p:cNvPr>
          <p:cNvCxnSpPr>
            <a:cxnSpLocks/>
          </p:cNvCxnSpPr>
          <p:nvPr/>
        </p:nvCxnSpPr>
        <p:spPr>
          <a:xfrm flipH="1" flipV="1">
            <a:off x="586457" y="148841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1638BF7-D86D-5359-1B59-677CD254DF83}"/>
              </a:ext>
            </a:extLst>
          </p:cNvPr>
          <p:cNvCxnSpPr>
            <a:cxnSpLocks/>
          </p:cNvCxnSpPr>
          <p:nvPr/>
        </p:nvCxnSpPr>
        <p:spPr>
          <a:xfrm flipV="1">
            <a:off x="3343045" y="1459611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63EC567-1E25-C46D-D0A3-AAA4F3866C7F}"/>
              </a:ext>
            </a:extLst>
          </p:cNvPr>
          <p:cNvSpPr txBox="1"/>
          <p:nvPr/>
        </p:nvSpPr>
        <p:spPr>
          <a:xfrm>
            <a:off x="2457813" y="109514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B11B8-DC1B-3186-A740-A66F21B746ED}"/>
              </a:ext>
            </a:extLst>
          </p:cNvPr>
          <p:cNvSpPr txBox="1"/>
          <p:nvPr/>
        </p:nvSpPr>
        <p:spPr>
          <a:xfrm>
            <a:off x="3007963" y="180453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FD49882-07AE-C255-05F4-E07C383B5665}"/>
              </a:ext>
            </a:extLst>
          </p:cNvPr>
          <p:cNvCxnSpPr>
            <a:cxnSpLocks/>
          </p:cNvCxnSpPr>
          <p:nvPr/>
        </p:nvCxnSpPr>
        <p:spPr>
          <a:xfrm flipH="1" flipV="1">
            <a:off x="2775529" y="1459611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6EF7F6-84E9-C4E6-B0CF-4482762E3AE5}"/>
              </a:ext>
            </a:extLst>
          </p:cNvPr>
          <p:cNvSpPr txBox="1"/>
          <p:nvPr/>
        </p:nvSpPr>
        <p:spPr>
          <a:xfrm>
            <a:off x="2451143" y="15779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C5290C-C206-3426-8FFA-EE4D4D19BEED}"/>
              </a:ext>
            </a:extLst>
          </p:cNvPr>
          <p:cNvSpPr txBox="1"/>
          <p:nvPr/>
        </p:nvSpPr>
        <p:spPr>
          <a:xfrm>
            <a:off x="3565733" y="16407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5B5D38-5381-D24B-3286-C1F07B0EDD58}"/>
              </a:ext>
            </a:extLst>
          </p:cNvPr>
          <p:cNvSpPr txBox="1"/>
          <p:nvPr/>
        </p:nvSpPr>
        <p:spPr>
          <a:xfrm>
            <a:off x="1336278" y="15937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EED572-014E-77C0-0ECC-4BC04B8AB657}"/>
              </a:ext>
            </a:extLst>
          </p:cNvPr>
          <p:cNvSpPr txBox="1"/>
          <p:nvPr/>
        </p:nvSpPr>
        <p:spPr>
          <a:xfrm>
            <a:off x="329719" y="161647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F083FE-F528-CD4C-0E9F-1CAB30DD2F5F}"/>
              </a:ext>
            </a:extLst>
          </p:cNvPr>
          <p:cNvSpPr txBox="1"/>
          <p:nvPr/>
        </p:nvSpPr>
        <p:spPr>
          <a:xfrm>
            <a:off x="795636" y="44305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47DDAE7-279A-01C0-E48E-AD9A25E53CBE}"/>
              </a:ext>
            </a:extLst>
          </p:cNvPr>
          <p:cNvCxnSpPr>
            <a:cxnSpLocks/>
          </p:cNvCxnSpPr>
          <p:nvPr/>
        </p:nvCxnSpPr>
        <p:spPr>
          <a:xfrm flipH="1">
            <a:off x="565001" y="742671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18D93FF-520E-AEA1-2ED9-50CB76427E2B}"/>
              </a:ext>
            </a:extLst>
          </p:cNvPr>
          <p:cNvCxnSpPr>
            <a:cxnSpLocks/>
          </p:cNvCxnSpPr>
          <p:nvPr/>
        </p:nvCxnSpPr>
        <p:spPr>
          <a:xfrm>
            <a:off x="1086362" y="732491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6494B23-97E4-98CB-81FC-BEECAD9C779E}"/>
              </a:ext>
            </a:extLst>
          </p:cNvPr>
          <p:cNvSpPr txBox="1"/>
          <p:nvPr/>
        </p:nvSpPr>
        <p:spPr>
          <a:xfrm>
            <a:off x="2960759" y="41911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9F33B1A-7871-BD1B-9493-0DCE26871EFD}"/>
              </a:ext>
            </a:extLst>
          </p:cNvPr>
          <p:cNvCxnSpPr>
            <a:cxnSpLocks/>
          </p:cNvCxnSpPr>
          <p:nvPr/>
        </p:nvCxnSpPr>
        <p:spPr>
          <a:xfrm flipH="1">
            <a:off x="2730124" y="718731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D14C5EF-28B9-8FD0-FE37-BDF1817D494D}"/>
              </a:ext>
            </a:extLst>
          </p:cNvPr>
          <p:cNvCxnSpPr>
            <a:cxnSpLocks/>
          </p:cNvCxnSpPr>
          <p:nvPr/>
        </p:nvCxnSpPr>
        <p:spPr>
          <a:xfrm>
            <a:off x="3251485" y="708551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0FBEAF5-1689-6C98-298A-D432BC14EB00}"/>
              </a:ext>
            </a:extLst>
          </p:cNvPr>
          <p:cNvSpPr txBox="1"/>
          <p:nvPr/>
        </p:nvSpPr>
        <p:spPr>
          <a:xfrm>
            <a:off x="7430037" y="1165548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197298-033E-9BEE-4B7B-20158FFF66A6}"/>
              </a:ext>
            </a:extLst>
          </p:cNvPr>
          <p:cNvSpPr txBox="1"/>
          <p:nvPr/>
        </p:nvSpPr>
        <p:spPr>
          <a:xfrm>
            <a:off x="6322117" y="116554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AE43C4-7634-1991-37AB-DC5E5B6CC0E6}"/>
              </a:ext>
            </a:extLst>
          </p:cNvPr>
          <p:cNvSpPr txBox="1"/>
          <p:nvPr/>
        </p:nvSpPr>
        <p:spPr>
          <a:xfrm>
            <a:off x="6825063" y="48951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4DFFCED-FF04-ED5F-3F2E-05D43BD1084B}"/>
              </a:ext>
            </a:extLst>
          </p:cNvPr>
          <p:cNvCxnSpPr>
            <a:cxnSpLocks/>
          </p:cNvCxnSpPr>
          <p:nvPr/>
        </p:nvCxnSpPr>
        <p:spPr>
          <a:xfrm flipH="1">
            <a:off x="6594428" y="789133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D6779B9-9CA9-4D95-1DD6-D37DAD0BF35D}"/>
              </a:ext>
            </a:extLst>
          </p:cNvPr>
          <p:cNvCxnSpPr>
            <a:cxnSpLocks/>
          </p:cNvCxnSpPr>
          <p:nvPr/>
        </p:nvCxnSpPr>
        <p:spPr>
          <a:xfrm>
            <a:off x="7115789" y="778953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0585AF0-4B3F-24B9-89BE-95D2869DCD9C}"/>
              </a:ext>
            </a:extLst>
          </p:cNvPr>
          <p:cNvCxnSpPr>
            <a:cxnSpLocks/>
          </p:cNvCxnSpPr>
          <p:nvPr/>
        </p:nvCxnSpPr>
        <p:spPr>
          <a:xfrm>
            <a:off x="4958070" y="1357417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14A27A-ADD9-250C-E013-60E4E5F18F7B}"/>
              </a:ext>
            </a:extLst>
          </p:cNvPr>
          <p:cNvCxnSpPr>
            <a:cxnSpLocks/>
          </p:cNvCxnSpPr>
          <p:nvPr/>
        </p:nvCxnSpPr>
        <p:spPr>
          <a:xfrm flipV="1">
            <a:off x="5440232" y="156291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C65C8B-461F-40E8-E908-B0BCF0C35BCA}"/>
              </a:ext>
            </a:extLst>
          </p:cNvPr>
          <p:cNvSpPr txBox="1"/>
          <p:nvPr/>
        </p:nvSpPr>
        <p:spPr>
          <a:xfrm>
            <a:off x="4555000" y="117275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110574-E924-F14E-DB49-6D1CBB3C77DF}"/>
              </a:ext>
            </a:extLst>
          </p:cNvPr>
          <p:cNvSpPr txBox="1"/>
          <p:nvPr/>
        </p:nvSpPr>
        <p:spPr>
          <a:xfrm>
            <a:off x="5684376" y="119358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453996-161D-2967-A669-58DECDB37704}"/>
              </a:ext>
            </a:extLst>
          </p:cNvPr>
          <p:cNvSpPr txBox="1"/>
          <p:nvPr/>
        </p:nvSpPr>
        <p:spPr>
          <a:xfrm>
            <a:off x="5105150" y="190784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A2F45BB-CA05-5128-4647-46384766FAB6}"/>
              </a:ext>
            </a:extLst>
          </p:cNvPr>
          <p:cNvCxnSpPr>
            <a:cxnSpLocks/>
          </p:cNvCxnSpPr>
          <p:nvPr/>
        </p:nvCxnSpPr>
        <p:spPr>
          <a:xfrm flipH="1" flipV="1">
            <a:off x="4872716" y="1562919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2706F0F-68AC-DFB1-9396-D637036C0B84}"/>
              </a:ext>
            </a:extLst>
          </p:cNvPr>
          <p:cNvSpPr txBox="1"/>
          <p:nvPr/>
        </p:nvSpPr>
        <p:spPr>
          <a:xfrm>
            <a:off x="5081895" y="517551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6A5B44A-D850-3BCC-1AB0-661BCD13A1E9}"/>
              </a:ext>
            </a:extLst>
          </p:cNvPr>
          <p:cNvCxnSpPr>
            <a:cxnSpLocks/>
          </p:cNvCxnSpPr>
          <p:nvPr/>
        </p:nvCxnSpPr>
        <p:spPr>
          <a:xfrm flipH="1">
            <a:off x="4851260" y="817172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E6C5A33-1378-E281-F343-2416A3E656AB}"/>
              </a:ext>
            </a:extLst>
          </p:cNvPr>
          <p:cNvCxnSpPr>
            <a:cxnSpLocks/>
          </p:cNvCxnSpPr>
          <p:nvPr/>
        </p:nvCxnSpPr>
        <p:spPr>
          <a:xfrm>
            <a:off x="5372621" y="806992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C1B5B364-1BF7-2ABB-227C-CD9E16582A57}"/>
              </a:ext>
            </a:extLst>
          </p:cNvPr>
          <p:cNvSpPr txBox="1"/>
          <p:nvPr/>
        </p:nvSpPr>
        <p:spPr>
          <a:xfrm>
            <a:off x="826770" y="152460"/>
            <a:ext cx="165116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1: Correct case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22569C-739E-4644-2E7C-AB912CA34320}"/>
              </a:ext>
            </a:extLst>
          </p:cNvPr>
          <p:cNvSpPr txBox="1"/>
          <p:nvPr/>
        </p:nvSpPr>
        <p:spPr>
          <a:xfrm>
            <a:off x="4330085" y="147741"/>
            <a:ext cx="199203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2: Missing confounder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85A312-5CB8-E680-4FE6-343170B214B4}"/>
              </a:ext>
            </a:extLst>
          </p:cNvPr>
          <p:cNvSpPr txBox="1"/>
          <p:nvPr/>
        </p:nvSpPr>
        <p:spPr>
          <a:xfrm>
            <a:off x="7838220" y="125760"/>
            <a:ext cx="199203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3: Modelling error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999CACC-C335-3311-6BBF-E7DDA633A2CB}"/>
              </a:ext>
            </a:extLst>
          </p:cNvPr>
          <p:cNvCxnSpPr>
            <a:cxnSpLocks/>
          </p:cNvCxnSpPr>
          <p:nvPr/>
        </p:nvCxnSpPr>
        <p:spPr>
          <a:xfrm>
            <a:off x="1181633" y="2748788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A7ACFC8-05D9-9AEE-63BD-558290B47785}"/>
              </a:ext>
            </a:extLst>
          </p:cNvPr>
          <p:cNvCxnSpPr>
            <a:cxnSpLocks/>
          </p:cNvCxnSpPr>
          <p:nvPr/>
        </p:nvCxnSpPr>
        <p:spPr>
          <a:xfrm flipV="1">
            <a:off x="1663795" y="2954290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59891328-F01F-E3DF-E404-FC4203282FBF}"/>
              </a:ext>
            </a:extLst>
          </p:cNvPr>
          <p:cNvSpPr txBox="1"/>
          <p:nvPr/>
        </p:nvSpPr>
        <p:spPr>
          <a:xfrm>
            <a:off x="778563" y="256412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ED0826E-A6F0-F00A-70AC-DB8BA1A29EF8}"/>
              </a:ext>
            </a:extLst>
          </p:cNvPr>
          <p:cNvSpPr txBox="1"/>
          <p:nvPr/>
        </p:nvSpPr>
        <p:spPr>
          <a:xfrm>
            <a:off x="1907939" y="258495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593F3E-BD68-40D9-0753-170DA5843FF9}"/>
              </a:ext>
            </a:extLst>
          </p:cNvPr>
          <p:cNvSpPr txBox="1"/>
          <p:nvPr/>
        </p:nvSpPr>
        <p:spPr>
          <a:xfrm>
            <a:off x="1328713" y="3299214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758F8463-FFC0-7A77-0C17-3A64EA62A559}"/>
              </a:ext>
            </a:extLst>
          </p:cNvPr>
          <p:cNvCxnSpPr>
            <a:cxnSpLocks/>
          </p:cNvCxnSpPr>
          <p:nvPr/>
        </p:nvCxnSpPr>
        <p:spPr>
          <a:xfrm flipH="1" flipV="1">
            <a:off x="1096279" y="2954290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C2C91F5-3432-A783-0765-F2CFA4B6C0FF}"/>
              </a:ext>
            </a:extLst>
          </p:cNvPr>
          <p:cNvSpPr txBox="1"/>
          <p:nvPr/>
        </p:nvSpPr>
        <p:spPr>
          <a:xfrm>
            <a:off x="1846100" y="30596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DFCAE2-A425-0898-F62E-FACCE46CD369}"/>
              </a:ext>
            </a:extLst>
          </p:cNvPr>
          <p:cNvSpPr txBox="1"/>
          <p:nvPr/>
        </p:nvSpPr>
        <p:spPr>
          <a:xfrm>
            <a:off x="839541" y="308234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952199-34B7-F9E5-386A-7D339D7DBB42}"/>
              </a:ext>
            </a:extLst>
          </p:cNvPr>
          <p:cNvSpPr txBox="1"/>
          <p:nvPr/>
        </p:nvSpPr>
        <p:spPr>
          <a:xfrm>
            <a:off x="875329" y="3604914"/>
            <a:ext cx="1439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L measured with measurement error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7D1A754-38A9-0799-C3C9-AEF94E025C45}"/>
              </a:ext>
            </a:extLst>
          </p:cNvPr>
          <p:cNvSpPr txBox="1"/>
          <p:nvPr/>
        </p:nvSpPr>
        <p:spPr>
          <a:xfrm>
            <a:off x="3840649" y="256879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6C0B8AD-03B1-923B-D5E2-B469A2543FED}"/>
              </a:ext>
            </a:extLst>
          </p:cNvPr>
          <p:cNvCxnSpPr>
            <a:cxnSpLocks/>
          </p:cNvCxnSpPr>
          <p:nvPr/>
        </p:nvCxnSpPr>
        <p:spPr>
          <a:xfrm flipV="1">
            <a:off x="3617961" y="295895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2C0798F7-6F9F-7843-91BD-DD90487E9496}"/>
              </a:ext>
            </a:extLst>
          </p:cNvPr>
          <p:cNvSpPr txBox="1"/>
          <p:nvPr/>
        </p:nvSpPr>
        <p:spPr>
          <a:xfrm>
            <a:off x="2732729" y="2568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896930-AFC6-9904-5A29-D7CC9F61A29E}"/>
              </a:ext>
            </a:extLst>
          </p:cNvPr>
          <p:cNvSpPr txBox="1"/>
          <p:nvPr/>
        </p:nvSpPr>
        <p:spPr>
          <a:xfrm>
            <a:off x="3282879" y="330388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A3D2003-199B-201D-797B-861E04BB0BD6}"/>
              </a:ext>
            </a:extLst>
          </p:cNvPr>
          <p:cNvCxnSpPr>
            <a:cxnSpLocks/>
          </p:cNvCxnSpPr>
          <p:nvPr/>
        </p:nvCxnSpPr>
        <p:spPr>
          <a:xfrm flipH="1" flipV="1">
            <a:off x="3022935" y="2929075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60BBB14-ABB1-8B1D-BD7A-4D6536BBE222}"/>
              </a:ext>
            </a:extLst>
          </p:cNvPr>
          <p:cNvSpPr txBox="1"/>
          <p:nvPr/>
        </p:nvSpPr>
        <p:spPr>
          <a:xfrm>
            <a:off x="2726059" y="307730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97B9317-D77D-C4D7-225D-97FCA06BF4EE}"/>
              </a:ext>
            </a:extLst>
          </p:cNvPr>
          <p:cNvSpPr txBox="1"/>
          <p:nvPr/>
        </p:nvSpPr>
        <p:spPr>
          <a:xfrm>
            <a:off x="3840649" y="314005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D48AE6-E2B4-25C8-2CA9-A22672C98F56}"/>
              </a:ext>
            </a:extLst>
          </p:cNvPr>
          <p:cNvSpPr txBox="1"/>
          <p:nvPr/>
        </p:nvSpPr>
        <p:spPr>
          <a:xfrm>
            <a:off x="2876100" y="3584002"/>
            <a:ext cx="1588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no measurement error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5C08F9-2082-4D7C-5191-50F77F52650B}"/>
              </a:ext>
            </a:extLst>
          </p:cNvPr>
          <p:cNvSpPr txBox="1"/>
          <p:nvPr/>
        </p:nvSpPr>
        <p:spPr>
          <a:xfrm>
            <a:off x="792388" y="4161245"/>
            <a:ext cx="20837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4: Measurement error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92AA4FA-89AB-F0DA-E5AB-24E4671ED40E}"/>
              </a:ext>
            </a:extLst>
          </p:cNvPr>
          <p:cNvCxnSpPr>
            <a:cxnSpLocks/>
          </p:cNvCxnSpPr>
          <p:nvPr/>
        </p:nvCxnSpPr>
        <p:spPr>
          <a:xfrm>
            <a:off x="4758603" y="2802109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D8F6FBB-F53B-0077-FB3A-E025B2C4DF73}"/>
              </a:ext>
            </a:extLst>
          </p:cNvPr>
          <p:cNvCxnSpPr>
            <a:cxnSpLocks/>
          </p:cNvCxnSpPr>
          <p:nvPr/>
        </p:nvCxnSpPr>
        <p:spPr>
          <a:xfrm flipV="1">
            <a:off x="5240765" y="3007611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371D751-EBD1-82D3-4487-A8C150B91015}"/>
              </a:ext>
            </a:extLst>
          </p:cNvPr>
          <p:cNvSpPr txBox="1"/>
          <p:nvPr/>
        </p:nvSpPr>
        <p:spPr>
          <a:xfrm>
            <a:off x="4355533" y="261744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03B86E4-B6DA-CB1C-E97D-89A171D24CCE}"/>
              </a:ext>
            </a:extLst>
          </p:cNvPr>
          <p:cNvSpPr txBox="1"/>
          <p:nvPr/>
        </p:nvSpPr>
        <p:spPr>
          <a:xfrm>
            <a:off x="5484909" y="2638279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ECD3A4C-6FA7-0DE8-B88B-AB6311639477}"/>
              </a:ext>
            </a:extLst>
          </p:cNvPr>
          <p:cNvSpPr txBox="1"/>
          <p:nvPr/>
        </p:nvSpPr>
        <p:spPr>
          <a:xfrm>
            <a:off x="4905683" y="335253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7F0BCA0-79B0-D25C-0DAC-5D0C89550370}"/>
              </a:ext>
            </a:extLst>
          </p:cNvPr>
          <p:cNvCxnSpPr>
            <a:cxnSpLocks/>
          </p:cNvCxnSpPr>
          <p:nvPr/>
        </p:nvCxnSpPr>
        <p:spPr>
          <a:xfrm flipH="1" flipV="1">
            <a:off x="4673249" y="3007611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70809304-2FEC-DA95-DD3D-78737A4E3CBF}"/>
              </a:ext>
            </a:extLst>
          </p:cNvPr>
          <p:cNvSpPr txBox="1"/>
          <p:nvPr/>
        </p:nvSpPr>
        <p:spPr>
          <a:xfrm>
            <a:off x="4416511" y="313566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B23DD2-E376-941E-6D71-D34B37BAB69A}"/>
              </a:ext>
            </a:extLst>
          </p:cNvPr>
          <p:cNvSpPr txBox="1"/>
          <p:nvPr/>
        </p:nvSpPr>
        <p:spPr>
          <a:xfrm>
            <a:off x="4412783" y="3591085"/>
            <a:ext cx="1439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strong association between U and Y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E7620D-E4B3-1422-64A1-1855B1F1C61F}"/>
              </a:ext>
            </a:extLst>
          </p:cNvPr>
          <p:cNvSpPr txBox="1"/>
          <p:nvPr/>
        </p:nvSpPr>
        <p:spPr>
          <a:xfrm>
            <a:off x="7220790" y="255937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A9521F44-D20F-C6F1-EABF-468185FD81D4}"/>
              </a:ext>
            </a:extLst>
          </p:cNvPr>
          <p:cNvCxnSpPr>
            <a:cxnSpLocks/>
          </p:cNvCxnSpPr>
          <p:nvPr/>
        </p:nvCxnSpPr>
        <p:spPr>
          <a:xfrm flipV="1">
            <a:off x="6998102" y="294953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BC868EA6-5A1E-187C-1F2E-B428CE7252C9}"/>
              </a:ext>
            </a:extLst>
          </p:cNvPr>
          <p:cNvSpPr txBox="1"/>
          <p:nvPr/>
        </p:nvSpPr>
        <p:spPr>
          <a:xfrm>
            <a:off x="6112870" y="255937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F36076-963F-C492-F03B-AD0794969CA0}"/>
              </a:ext>
            </a:extLst>
          </p:cNvPr>
          <p:cNvSpPr txBox="1"/>
          <p:nvPr/>
        </p:nvSpPr>
        <p:spPr>
          <a:xfrm>
            <a:off x="6663020" y="329446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CF559AEC-E7F3-D431-F1D2-983826E26DCF}"/>
              </a:ext>
            </a:extLst>
          </p:cNvPr>
          <p:cNvCxnSpPr>
            <a:cxnSpLocks/>
          </p:cNvCxnSpPr>
          <p:nvPr/>
        </p:nvCxnSpPr>
        <p:spPr>
          <a:xfrm flipH="1" flipV="1">
            <a:off x="6430586" y="294953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B73C3A0-0F74-7095-0D09-92CEAA9FAD8F}"/>
              </a:ext>
            </a:extLst>
          </p:cNvPr>
          <p:cNvSpPr txBox="1"/>
          <p:nvPr/>
        </p:nvSpPr>
        <p:spPr>
          <a:xfrm>
            <a:off x="6106200" y="306788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23688CB-E10F-0566-2311-E001268C86FC}"/>
              </a:ext>
            </a:extLst>
          </p:cNvPr>
          <p:cNvSpPr txBox="1"/>
          <p:nvPr/>
        </p:nvSpPr>
        <p:spPr>
          <a:xfrm>
            <a:off x="7220790" y="313063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CB4C431-0C2A-6DB5-5A29-3D4429C30D78}"/>
              </a:ext>
            </a:extLst>
          </p:cNvPr>
          <p:cNvSpPr txBox="1"/>
          <p:nvPr/>
        </p:nvSpPr>
        <p:spPr>
          <a:xfrm>
            <a:off x="6332099" y="3610829"/>
            <a:ext cx="1567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weak association between U and 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4197C81-EB0D-D1BC-9414-A933717CE603}"/>
              </a:ext>
            </a:extLst>
          </p:cNvPr>
          <p:cNvSpPr txBox="1"/>
          <p:nvPr/>
        </p:nvSpPr>
        <p:spPr>
          <a:xfrm>
            <a:off x="4355533" y="4157046"/>
            <a:ext cx="20837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5: Weak negative control 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149CE48-A5CF-227B-AFFF-15D70499995B}"/>
              </a:ext>
            </a:extLst>
          </p:cNvPr>
          <p:cNvCxnSpPr>
            <a:cxnSpLocks/>
          </p:cNvCxnSpPr>
          <p:nvPr/>
        </p:nvCxnSpPr>
        <p:spPr>
          <a:xfrm>
            <a:off x="8316298" y="2729827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F4875DA0-60D2-7D36-BCF7-B5AE46A4AB90}"/>
              </a:ext>
            </a:extLst>
          </p:cNvPr>
          <p:cNvCxnSpPr>
            <a:cxnSpLocks/>
          </p:cNvCxnSpPr>
          <p:nvPr/>
        </p:nvCxnSpPr>
        <p:spPr>
          <a:xfrm flipV="1">
            <a:off x="8798460" y="2935329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A3487C2-63A4-DA8A-C6F2-C6AE2667BACD}"/>
              </a:ext>
            </a:extLst>
          </p:cNvPr>
          <p:cNvSpPr txBox="1"/>
          <p:nvPr/>
        </p:nvSpPr>
        <p:spPr>
          <a:xfrm>
            <a:off x="7913228" y="254516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70CFA25-51A4-1E78-B25F-F241CF812B6B}"/>
              </a:ext>
            </a:extLst>
          </p:cNvPr>
          <p:cNvSpPr txBox="1"/>
          <p:nvPr/>
        </p:nvSpPr>
        <p:spPr>
          <a:xfrm>
            <a:off x="9042604" y="256599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95473703-0761-30C1-1235-4A1CB3292A70}"/>
              </a:ext>
            </a:extLst>
          </p:cNvPr>
          <p:cNvSpPr txBox="1"/>
          <p:nvPr/>
        </p:nvSpPr>
        <p:spPr>
          <a:xfrm>
            <a:off x="8463378" y="328025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6AE9B73A-D4FE-ED89-D25E-8635A8EE9678}"/>
              </a:ext>
            </a:extLst>
          </p:cNvPr>
          <p:cNvCxnSpPr>
            <a:cxnSpLocks/>
          </p:cNvCxnSpPr>
          <p:nvPr/>
        </p:nvCxnSpPr>
        <p:spPr>
          <a:xfrm flipH="1" flipV="1">
            <a:off x="8230944" y="2935329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67503C7-6AE8-2ADB-3B94-4DF00617DD09}"/>
              </a:ext>
            </a:extLst>
          </p:cNvPr>
          <p:cNvSpPr txBox="1"/>
          <p:nvPr/>
        </p:nvSpPr>
        <p:spPr>
          <a:xfrm>
            <a:off x="8980765" y="304063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BC5AD63-A024-A02D-775D-E860139B6709}"/>
              </a:ext>
            </a:extLst>
          </p:cNvPr>
          <p:cNvSpPr txBox="1"/>
          <p:nvPr/>
        </p:nvSpPr>
        <p:spPr>
          <a:xfrm>
            <a:off x="7974206" y="306338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BEA0091-9286-ACE5-EAE5-3F27C8652BC5}"/>
              </a:ext>
            </a:extLst>
          </p:cNvPr>
          <p:cNvSpPr txBox="1"/>
          <p:nvPr/>
        </p:nvSpPr>
        <p:spPr>
          <a:xfrm>
            <a:off x="10388078" y="2566839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76DB710-2B79-152E-0023-8E47EDEDE035}"/>
              </a:ext>
            </a:extLst>
          </p:cNvPr>
          <p:cNvCxnSpPr>
            <a:cxnSpLocks/>
          </p:cNvCxnSpPr>
          <p:nvPr/>
        </p:nvCxnSpPr>
        <p:spPr>
          <a:xfrm flipV="1">
            <a:off x="10165390" y="2931304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CF563053-BDF2-FBF5-135E-595B96C1DE6A}"/>
              </a:ext>
            </a:extLst>
          </p:cNvPr>
          <p:cNvSpPr txBox="1"/>
          <p:nvPr/>
        </p:nvSpPr>
        <p:spPr>
          <a:xfrm>
            <a:off x="9280158" y="25668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CF169F7-6829-FE68-FE21-1AADF6B15A85}"/>
              </a:ext>
            </a:extLst>
          </p:cNvPr>
          <p:cNvSpPr txBox="1"/>
          <p:nvPr/>
        </p:nvSpPr>
        <p:spPr>
          <a:xfrm>
            <a:off x="9830308" y="3276228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C0BAD1F-715E-9FCB-D04B-2913E255AF1F}"/>
              </a:ext>
            </a:extLst>
          </p:cNvPr>
          <p:cNvCxnSpPr>
            <a:cxnSpLocks/>
          </p:cNvCxnSpPr>
          <p:nvPr/>
        </p:nvCxnSpPr>
        <p:spPr>
          <a:xfrm flipH="1" flipV="1">
            <a:off x="9597874" y="2931304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EFDF453-2FB3-A9D6-7498-37DD42F3279C}"/>
              </a:ext>
            </a:extLst>
          </p:cNvPr>
          <p:cNvSpPr txBox="1"/>
          <p:nvPr/>
        </p:nvSpPr>
        <p:spPr>
          <a:xfrm>
            <a:off x="9273488" y="30496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98280A5-FAF6-11FE-42DA-AFCA53C61FDE}"/>
              </a:ext>
            </a:extLst>
          </p:cNvPr>
          <p:cNvSpPr txBox="1"/>
          <p:nvPr/>
        </p:nvSpPr>
        <p:spPr>
          <a:xfrm>
            <a:off x="10388078" y="3112398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3E38CED-E2D1-D0E3-1834-32A156EBA4D8}"/>
              </a:ext>
            </a:extLst>
          </p:cNvPr>
          <p:cNvSpPr txBox="1"/>
          <p:nvPr/>
        </p:nvSpPr>
        <p:spPr>
          <a:xfrm>
            <a:off x="7898685" y="4161245"/>
            <a:ext cx="20837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6: </a:t>
            </a:r>
            <a:r>
              <a:rPr lang="en-US" sz="1300">
                <a:latin typeface="Arial" panose="020B0604020202020204" pitchFamily="34" charset="0"/>
                <a:cs typeface="Arial" panose="020B0604020202020204" pitchFamily="34" charset="0"/>
              </a:rPr>
              <a:t>Negative association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9472A0-656A-0628-5C85-5F85BEAA3EE5}"/>
              </a:ext>
            </a:extLst>
          </p:cNvPr>
          <p:cNvSpPr txBox="1"/>
          <p:nvPr/>
        </p:nvSpPr>
        <p:spPr>
          <a:xfrm>
            <a:off x="5396753" y="31362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613235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5AAAE7D-2A7E-5AF1-749C-04A179264564}"/>
              </a:ext>
            </a:extLst>
          </p:cNvPr>
          <p:cNvCxnSpPr>
            <a:cxnSpLocks/>
          </p:cNvCxnSpPr>
          <p:nvPr/>
        </p:nvCxnSpPr>
        <p:spPr>
          <a:xfrm>
            <a:off x="3426624" y="2254225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EAF94BD-1ECA-42C2-0A2E-40C2E92E849E}"/>
              </a:ext>
            </a:extLst>
          </p:cNvPr>
          <p:cNvCxnSpPr>
            <a:cxnSpLocks/>
          </p:cNvCxnSpPr>
          <p:nvPr/>
        </p:nvCxnSpPr>
        <p:spPr>
          <a:xfrm flipV="1">
            <a:off x="3908786" y="2459727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4B3D937-7E92-AA0D-5422-60A9AB98AB5E}"/>
              </a:ext>
            </a:extLst>
          </p:cNvPr>
          <p:cNvSpPr txBox="1"/>
          <p:nvPr/>
        </p:nvSpPr>
        <p:spPr>
          <a:xfrm>
            <a:off x="3023554" y="206955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8E4F59-3E72-6C5C-7F53-DB1CBFE6A4C3}"/>
              </a:ext>
            </a:extLst>
          </p:cNvPr>
          <p:cNvSpPr txBox="1"/>
          <p:nvPr/>
        </p:nvSpPr>
        <p:spPr>
          <a:xfrm>
            <a:off x="4152930" y="2090395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3E31BD-2638-DFFB-D00E-D83862E8E06C}"/>
              </a:ext>
            </a:extLst>
          </p:cNvPr>
          <p:cNvSpPr txBox="1"/>
          <p:nvPr/>
        </p:nvSpPr>
        <p:spPr>
          <a:xfrm>
            <a:off x="3009282" y="3257525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L*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79934F-CC96-9402-B8AF-E1D1C6E65003}"/>
              </a:ext>
            </a:extLst>
          </p:cNvPr>
          <p:cNvCxnSpPr>
            <a:cxnSpLocks/>
          </p:cNvCxnSpPr>
          <p:nvPr/>
        </p:nvCxnSpPr>
        <p:spPr>
          <a:xfrm flipH="1" flipV="1">
            <a:off x="3341270" y="2459727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E6C71B4-89DD-E404-D24A-4ACDE822426F}"/>
              </a:ext>
            </a:extLst>
          </p:cNvPr>
          <p:cNvSpPr txBox="1"/>
          <p:nvPr/>
        </p:nvSpPr>
        <p:spPr>
          <a:xfrm>
            <a:off x="4091091" y="256503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C238C-8BFC-DED0-3ED3-011C44371203}"/>
              </a:ext>
            </a:extLst>
          </p:cNvPr>
          <p:cNvSpPr txBox="1"/>
          <p:nvPr/>
        </p:nvSpPr>
        <p:spPr>
          <a:xfrm>
            <a:off x="3084532" y="258777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EA3223-9F2C-BB47-67AF-49B49671E10F}"/>
              </a:ext>
            </a:extLst>
          </p:cNvPr>
          <p:cNvSpPr txBox="1"/>
          <p:nvPr/>
        </p:nvSpPr>
        <p:spPr>
          <a:xfrm>
            <a:off x="3606396" y="278117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AC4F217-07BD-9681-8D79-A7C8B42B43DD}"/>
              </a:ext>
            </a:extLst>
          </p:cNvPr>
          <p:cNvCxnSpPr>
            <a:cxnSpLocks/>
          </p:cNvCxnSpPr>
          <p:nvPr/>
        </p:nvCxnSpPr>
        <p:spPr>
          <a:xfrm flipH="1">
            <a:off x="3341270" y="3098327"/>
            <a:ext cx="265126" cy="2281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E12D59E-A33B-9C53-F3A2-9C5E2E82A4A7}"/>
              </a:ext>
            </a:extLst>
          </p:cNvPr>
          <p:cNvSpPr txBox="1"/>
          <p:nvPr/>
        </p:nvSpPr>
        <p:spPr>
          <a:xfrm>
            <a:off x="2150746" y="5082873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98FBA6E-329D-FE9F-598A-E2A90FA77359}"/>
              </a:ext>
            </a:extLst>
          </p:cNvPr>
          <p:cNvCxnSpPr>
            <a:cxnSpLocks/>
          </p:cNvCxnSpPr>
          <p:nvPr/>
        </p:nvCxnSpPr>
        <p:spPr>
          <a:xfrm flipV="1">
            <a:off x="1723259" y="5431369"/>
            <a:ext cx="427487" cy="2929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84BFC04-7637-BE79-B930-B3265D7F3218}"/>
              </a:ext>
            </a:extLst>
          </p:cNvPr>
          <p:cNvSpPr txBox="1"/>
          <p:nvPr/>
        </p:nvSpPr>
        <p:spPr>
          <a:xfrm>
            <a:off x="1042826" y="508287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41A9FD0-E6C8-E40A-21BE-CB4C04F607B6}"/>
              </a:ext>
            </a:extLst>
          </p:cNvPr>
          <p:cNvCxnSpPr>
            <a:cxnSpLocks/>
          </p:cNvCxnSpPr>
          <p:nvPr/>
        </p:nvCxnSpPr>
        <p:spPr>
          <a:xfrm flipH="1" flipV="1">
            <a:off x="1312088" y="5361182"/>
            <a:ext cx="215912" cy="2634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5C9490E-E2AC-5806-56F8-EAFA69269321}"/>
              </a:ext>
            </a:extLst>
          </p:cNvPr>
          <p:cNvSpPr txBox="1"/>
          <p:nvPr/>
        </p:nvSpPr>
        <p:spPr>
          <a:xfrm>
            <a:off x="1036156" y="55913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46ADCC-DFB0-11CC-BB93-8D97CB9ED052}"/>
              </a:ext>
            </a:extLst>
          </p:cNvPr>
          <p:cNvSpPr txBox="1"/>
          <p:nvPr/>
        </p:nvSpPr>
        <p:spPr>
          <a:xfrm>
            <a:off x="1803932" y="555751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2DEF3B-C9DF-18BC-5F3E-01D455B53766}"/>
              </a:ext>
            </a:extLst>
          </p:cNvPr>
          <p:cNvSpPr txBox="1"/>
          <p:nvPr/>
        </p:nvSpPr>
        <p:spPr>
          <a:xfrm>
            <a:off x="1008108" y="6090805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42590-680B-B9AE-9F3B-060FF8917924}"/>
              </a:ext>
            </a:extLst>
          </p:cNvPr>
          <p:cNvSpPr txBox="1"/>
          <p:nvPr/>
        </p:nvSpPr>
        <p:spPr>
          <a:xfrm>
            <a:off x="1452798" y="556648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1734068-2FEA-2609-E4B8-AB0C951E445D}"/>
              </a:ext>
            </a:extLst>
          </p:cNvPr>
          <p:cNvCxnSpPr>
            <a:cxnSpLocks/>
            <a:endCxn id="2" idx="3"/>
          </p:cNvCxnSpPr>
          <p:nvPr/>
        </p:nvCxnSpPr>
        <p:spPr>
          <a:xfrm flipH="1">
            <a:off x="1405974" y="5889194"/>
            <a:ext cx="156859" cy="3862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1E87CF6-2636-256D-7D7B-46017EF522A7}"/>
              </a:ext>
            </a:extLst>
          </p:cNvPr>
          <p:cNvCxnSpPr>
            <a:cxnSpLocks/>
          </p:cNvCxnSpPr>
          <p:nvPr/>
        </p:nvCxnSpPr>
        <p:spPr>
          <a:xfrm flipV="1">
            <a:off x="5873312" y="2409460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156D5EE-6E26-BDE7-08FE-A67BADAA9C7D}"/>
              </a:ext>
            </a:extLst>
          </p:cNvPr>
          <p:cNvSpPr txBox="1"/>
          <p:nvPr/>
        </p:nvSpPr>
        <p:spPr>
          <a:xfrm>
            <a:off x="4988080" y="201929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57B45D-20F0-6956-5B68-C13B1F875F24}"/>
              </a:ext>
            </a:extLst>
          </p:cNvPr>
          <p:cNvSpPr txBox="1"/>
          <p:nvPr/>
        </p:nvSpPr>
        <p:spPr>
          <a:xfrm>
            <a:off x="6117456" y="2040128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F68538-0DBD-270C-DFDF-AA8328FB71DA}"/>
              </a:ext>
            </a:extLst>
          </p:cNvPr>
          <p:cNvSpPr txBox="1"/>
          <p:nvPr/>
        </p:nvSpPr>
        <p:spPr>
          <a:xfrm>
            <a:off x="4973808" y="3207258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3F2375-A559-30B5-7384-597E6E08166D}"/>
              </a:ext>
            </a:extLst>
          </p:cNvPr>
          <p:cNvCxnSpPr>
            <a:cxnSpLocks/>
          </p:cNvCxnSpPr>
          <p:nvPr/>
        </p:nvCxnSpPr>
        <p:spPr>
          <a:xfrm flipH="1" flipV="1">
            <a:off x="5305796" y="2409460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A0DEE1D-B68B-D6DE-85FB-8FE8488912D1}"/>
              </a:ext>
            </a:extLst>
          </p:cNvPr>
          <p:cNvSpPr txBox="1"/>
          <p:nvPr/>
        </p:nvSpPr>
        <p:spPr>
          <a:xfrm>
            <a:off x="6055617" y="251477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30D8C3-80EA-7E02-E73A-176431A6C46A}"/>
              </a:ext>
            </a:extLst>
          </p:cNvPr>
          <p:cNvSpPr txBox="1"/>
          <p:nvPr/>
        </p:nvSpPr>
        <p:spPr>
          <a:xfrm>
            <a:off x="5049058" y="25375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FCF01C0-C896-E4C0-0309-0B8217783760}"/>
              </a:ext>
            </a:extLst>
          </p:cNvPr>
          <p:cNvSpPr txBox="1"/>
          <p:nvPr/>
        </p:nvSpPr>
        <p:spPr>
          <a:xfrm>
            <a:off x="5570922" y="273090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FA7F1DF-AF7C-9A8F-90CD-248A367A893A}"/>
              </a:ext>
            </a:extLst>
          </p:cNvPr>
          <p:cNvCxnSpPr>
            <a:cxnSpLocks/>
          </p:cNvCxnSpPr>
          <p:nvPr/>
        </p:nvCxnSpPr>
        <p:spPr>
          <a:xfrm flipH="1">
            <a:off x="5305796" y="3048060"/>
            <a:ext cx="265126" cy="2281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0693A5A-F8A6-50F9-CAFE-C4E92100D242}"/>
              </a:ext>
            </a:extLst>
          </p:cNvPr>
          <p:cNvSpPr txBox="1"/>
          <p:nvPr/>
        </p:nvSpPr>
        <p:spPr>
          <a:xfrm>
            <a:off x="4660843" y="3626857"/>
            <a:ext cx="27932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L* = L for negative control analysis with no measurement error </a:t>
            </a:r>
          </a:p>
        </p:txBody>
      </p:sp>
    </p:spTree>
    <p:extLst>
      <p:ext uri="{BB962C8B-B14F-4D97-AF65-F5344CB8AC3E}">
        <p14:creationId xmlns:p14="http://schemas.microsoft.com/office/powerpoint/2010/main" val="1061085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FD83E9-A1FF-1AE1-A8AE-4B7D7FD99C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2198285"/>
              </p:ext>
            </p:extLst>
          </p:nvPr>
        </p:nvGraphicFramePr>
        <p:xfrm>
          <a:off x="0" y="6140211"/>
          <a:ext cx="12192000" cy="4085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4642222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6939838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272982499"/>
                    </a:ext>
                  </a:extLst>
                </a:gridCol>
              </a:tblGrid>
              <a:tr h="204281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883847"/>
                  </a:ext>
                </a:extLst>
              </a:tr>
              <a:tr h="204281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5093969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D5F7F07-D350-057F-9D79-7E8129B86744}"/>
              </a:ext>
            </a:extLst>
          </p:cNvPr>
          <p:cNvCxnSpPr>
            <a:cxnSpLocks/>
          </p:cNvCxnSpPr>
          <p:nvPr/>
        </p:nvCxnSpPr>
        <p:spPr>
          <a:xfrm>
            <a:off x="629769" y="1188323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7D90BBC-0C17-9066-A254-BC9EA7EF95B1}"/>
              </a:ext>
            </a:extLst>
          </p:cNvPr>
          <p:cNvCxnSpPr>
            <a:cxnSpLocks/>
          </p:cNvCxnSpPr>
          <p:nvPr/>
        </p:nvCxnSpPr>
        <p:spPr>
          <a:xfrm flipV="1">
            <a:off x="1111931" y="1393825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7FC9BF8-DA84-254D-2DA9-35269DF30368}"/>
              </a:ext>
            </a:extLst>
          </p:cNvPr>
          <p:cNvSpPr txBox="1"/>
          <p:nvPr/>
        </p:nvSpPr>
        <p:spPr>
          <a:xfrm>
            <a:off x="226699" y="100365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00626-9771-2112-9429-90BB703BC8AC}"/>
              </a:ext>
            </a:extLst>
          </p:cNvPr>
          <p:cNvSpPr txBox="1"/>
          <p:nvPr/>
        </p:nvSpPr>
        <p:spPr>
          <a:xfrm>
            <a:off x="1356075" y="1024493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876D7A-21F6-C197-56C1-F3BDFB673AA2}"/>
              </a:ext>
            </a:extLst>
          </p:cNvPr>
          <p:cNvSpPr txBox="1"/>
          <p:nvPr/>
        </p:nvSpPr>
        <p:spPr>
          <a:xfrm>
            <a:off x="3523691" y="1000553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EE692E-73EC-7D38-62FE-C96776FD0367}"/>
              </a:ext>
            </a:extLst>
          </p:cNvPr>
          <p:cNvSpPr txBox="1"/>
          <p:nvPr/>
        </p:nvSpPr>
        <p:spPr>
          <a:xfrm>
            <a:off x="776849" y="1738749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196DE8-B830-87C1-EABA-76DF75F2425B}"/>
              </a:ext>
            </a:extLst>
          </p:cNvPr>
          <p:cNvCxnSpPr>
            <a:cxnSpLocks/>
          </p:cNvCxnSpPr>
          <p:nvPr/>
        </p:nvCxnSpPr>
        <p:spPr>
          <a:xfrm flipH="1" flipV="1">
            <a:off x="544415" y="1393825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813F937-75A1-65C7-4DE1-2C1D390137C0}"/>
              </a:ext>
            </a:extLst>
          </p:cNvPr>
          <p:cNvCxnSpPr>
            <a:cxnSpLocks/>
          </p:cNvCxnSpPr>
          <p:nvPr/>
        </p:nvCxnSpPr>
        <p:spPr>
          <a:xfrm flipV="1">
            <a:off x="3301003" y="136501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D61B367-A81F-A365-AE9D-77ECD657D299}"/>
              </a:ext>
            </a:extLst>
          </p:cNvPr>
          <p:cNvSpPr txBox="1"/>
          <p:nvPr/>
        </p:nvSpPr>
        <p:spPr>
          <a:xfrm>
            <a:off x="2415771" y="100055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A058D2-E62E-2994-AED3-1DFAEBE1B4C4}"/>
              </a:ext>
            </a:extLst>
          </p:cNvPr>
          <p:cNvSpPr txBox="1"/>
          <p:nvPr/>
        </p:nvSpPr>
        <p:spPr>
          <a:xfrm>
            <a:off x="2965921" y="170994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3B1D87-9C42-6747-BDF3-FC3E36DD3E01}"/>
              </a:ext>
            </a:extLst>
          </p:cNvPr>
          <p:cNvCxnSpPr>
            <a:cxnSpLocks/>
          </p:cNvCxnSpPr>
          <p:nvPr/>
        </p:nvCxnSpPr>
        <p:spPr>
          <a:xfrm flipH="1" flipV="1">
            <a:off x="2733487" y="136501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F8D0BDC-8F55-7598-73F4-981B7FA7D128}"/>
              </a:ext>
            </a:extLst>
          </p:cNvPr>
          <p:cNvSpPr txBox="1"/>
          <p:nvPr/>
        </p:nvSpPr>
        <p:spPr>
          <a:xfrm>
            <a:off x="2409101" y="148336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52BB98-2B68-95AC-4A5D-F63432FA0058}"/>
              </a:ext>
            </a:extLst>
          </p:cNvPr>
          <p:cNvSpPr txBox="1"/>
          <p:nvPr/>
        </p:nvSpPr>
        <p:spPr>
          <a:xfrm>
            <a:off x="3523691" y="1546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8721B-10F3-9F3A-231B-8A915B54BD48}"/>
              </a:ext>
            </a:extLst>
          </p:cNvPr>
          <p:cNvSpPr txBox="1"/>
          <p:nvPr/>
        </p:nvSpPr>
        <p:spPr>
          <a:xfrm>
            <a:off x="1294236" y="14991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084059-21FF-D386-CD5D-842C46E96878}"/>
              </a:ext>
            </a:extLst>
          </p:cNvPr>
          <p:cNvSpPr txBox="1"/>
          <p:nvPr/>
        </p:nvSpPr>
        <p:spPr>
          <a:xfrm>
            <a:off x="287677" y="15218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1E70FF-6938-1FBC-934C-14367C472216}"/>
              </a:ext>
            </a:extLst>
          </p:cNvPr>
          <p:cNvSpPr txBox="1"/>
          <p:nvPr/>
        </p:nvSpPr>
        <p:spPr>
          <a:xfrm>
            <a:off x="753594" y="348457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EB3A360-661E-087C-7345-014A57B5D78D}"/>
              </a:ext>
            </a:extLst>
          </p:cNvPr>
          <p:cNvCxnSpPr>
            <a:cxnSpLocks/>
          </p:cNvCxnSpPr>
          <p:nvPr/>
        </p:nvCxnSpPr>
        <p:spPr>
          <a:xfrm flipH="1">
            <a:off x="522959" y="648078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9CCCE2D-5671-C2D1-05D8-41BB7188BD0E}"/>
              </a:ext>
            </a:extLst>
          </p:cNvPr>
          <p:cNvCxnSpPr>
            <a:cxnSpLocks/>
          </p:cNvCxnSpPr>
          <p:nvPr/>
        </p:nvCxnSpPr>
        <p:spPr>
          <a:xfrm>
            <a:off x="1044320" y="637898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77F4223-F7F6-C23E-9825-17526BEB5C08}"/>
              </a:ext>
            </a:extLst>
          </p:cNvPr>
          <p:cNvCxnSpPr>
            <a:cxnSpLocks/>
          </p:cNvCxnSpPr>
          <p:nvPr/>
        </p:nvCxnSpPr>
        <p:spPr>
          <a:xfrm flipH="1">
            <a:off x="2688082" y="624138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6643AD-DB27-D036-62CA-5D70C057F8B6}"/>
              </a:ext>
            </a:extLst>
          </p:cNvPr>
          <p:cNvCxnSpPr>
            <a:cxnSpLocks/>
          </p:cNvCxnSpPr>
          <p:nvPr/>
        </p:nvCxnSpPr>
        <p:spPr>
          <a:xfrm>
            <a:off x="3209443" y="613958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4089F4B-3075-0677-5D81-FDB3C0701881}"/>
              </a:ext>
            </a:extLst>
          </p:cNvPr>
          <p:cNvSpPr txBox="1"/>
          <p:nvPr/>
        </p:nvSpPr>
        <p:spPr>
          <a:xfrm>
            <a:off x="2908498" y="335746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7DF311-44CA-1E82-1A2A-6EC9CA8E6797}"/>
              </a:ext>
            </a:extLst>
          </p:cNvPr>
          <p:cNvSpPr txBox="1"/>
          <p:nvPr/>
        </p:nvSpPr>
        <p:spPr>
          <a:xfrm>
            <a:off x="7430037" y="1165548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1F31B9-8251-BE9B-3FB0-8F9908A9CC91}"/>
              </a:ext>
            </a:extLst>
          </p:cNvPr>
          <p:cNvSpPr txBox="1"/>
          <p:nvPr/>
        </p:nvSpPr>
        <p:spPr>
          <a:xfrm>
            <a:off x="6322117" y="116554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25E300-19F7-D194-0D01-DFB8420D082B}"/>
              </a:ext>
            </a:extLst>
          </p:cNvPr>
          <p:cNvSpPr txBox="1"/>
          <p:nvPr/>
        </p:nvSpPr>
        <p:spPr>
          <a:xfrm>
            <a:off x="6825063" y="489512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8AAEBD-9F08-59D8-5593-5298FC008E78}"/>
              </a:ext>
            </a:extLst>
          </p:cNvPr>
          <p:cNvCxnSpPr>
            <a:cxnSpLocks/>
          </p:cNvCxnSpPr>
          <p:nvPr/>
        </p:nvCxnSpPr>
        <p:spPr>
          <a:xfrm flipH="1">
            <a:off x="6594428" y="789133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D8AFAE-09FD-4653-7A61-3010C56C5B29}"/>
              </a:ext>
            </a:extLst>
          </p:cNvPr>
          <p:cNvCxnSpPr>
            <a:cxnSpLocks/>
          </p:cNvCxnSpPr>
          <p:nvPr/>
        </p:nvCxnSpPr>
        <p:spPr>
          <a:xfrm>
            <a:off x="7115789" y="778953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A62D3E9-89DF-965A-E4EF-DBEA04980A64}"/>
              </a:ext>
            </a:extLst>
          </p:cNvPr>
          <p:cNvCxnSpPr>
            <a:cxnSpLocks/>
          </p:cNvCxnSpPr>
          <p:nvPr/>
        </p:nvCxnSpPr>
        <p:spPr>
          <a:xfrm>
            <a:off x="4788595" y="1156916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1944C7F-906F-1E84-044D-FC99118EA732}"/>
              </a:ext>
            </a:extLst>
          </p:cNvPr>
          <p:cNvCxnSpPr>
            <a:cxnSpLocks/>
          </p:cNvCxnSpPr>
          <p:nvPr/>
        </p:nvCxnSpPr>
        <p:spPr>
          <a:xfrm flipV="1">
            <a:off x="5270757" y="1362418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CB21FD-DC99-EE09-4FF1-1BAE2828EDC8}"/>
              </a:ext>
            </a:extLst>
          </p:cNvPr>
          <p:cNvSpPr txBox="1"/>
          <p:nvPr/>
        </p:nvSpPr>
        <p:spPr>
          <a:xfrm>
            <a:off x="4385525" y="97225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A0A71A-7154-1A13-2F84-C723B1F9CC9C}"/>
              </a:ext>
            </a:extLst>
          </p:cNvPr>
          <p:cNvSpPr txBox="1"/>
          <p:nvPr/>
        </p:nvSpPr>
        <p:spPr>
          <a:xfrm>
            <a:off x="5514901" y="993086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97C04F-AB64-38F1-E847-7CC337C7CB51}"/>
              </a:ext>
            </a:extLst>
          </p:cNvPr>
          <p:cNvSpPr txBox="1"/>
          <p:nvPr/>
        </p:nvSpPr>
        <p:spPr>
          <a:xfrm>
            <a:off x="4935675" y="170734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07257E8-B7C4-CE64-6769-5F68B6DFF4B2}"/>
              </a:ext>
            </a:extLst>
          </p:cNvPr>
          <p:cNvCxnSpPr>
            <a:cxnSpLocks/>
          </p:cNvCxnSpPr>
          <p:nvPr/>
        </p:nvCxnSpPr>
        <p:spPr>
          <a:xfrm flipH="1" flipV="1">
            <a:off x="4703241" y="1362418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ED4B507-8C72-62D7-C768-BBF724F56871}"/>
              </a:ext>
            </a:extLst>
          </p:cNvPr>
          <p:cNvSpPr txBox="1"/>
          <p:nvPr/>
        </p:nvSpPr>
        <p:spPr>
          <a:xfrm>
            <a:off x="4912420" y="31705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8C6EF7C-5CEC-EE06-688D-AA8C61B569D7}"/>
              </a:ext>
            </a:extLst>
          </p:cNvPr>
          <p:cNvCxnSpPr>
            <a:cxnSpLocks/>
          </p:cNvCxnSpPr>
          <p:nvPr/>
        </p:nvCxnSpPr>
        <p:spPr>
          <a:xfrm flipH="1">
            <a:off x="4681785" y="616671"/>
            <a:ext cx="204409" cy="3555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4D9B32D-C472-838E-A236-DAED5E7FEA3B}"/>
              </a:ext>
            </a:extLst>
          </p:cNvPr>
          <p:cNvCxnSpPr>
            <a:cxnSpLocks/>
          </p:cNvCxnSpPr>
          <p:nvPr/>
        </p:nvCxnSpPr>
        <p:spPr>
          <a:xfrm>
            <a:off x="5203146" y="606491"/>
            <a:ext cx="311755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9168223-ED5D-9C7B-C7BA-E8CA0EA4CDFE}"/>
              </a:ext>
            </a:extLst>
          </p:cNvPr>
          <p:cNvCxnSpPr>
            <a:cxnSpLocks/>
          </p:cNvCxnSpPr>
          <p:nvPr/>
        </p:nvCxnSpPr>
        <p:spPr>
          <a:xfrm>
            <a:off x="8610010" y="717789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06AE123-B0C8-D288-C0DC-5FC6D5B2A943}"/>
              </a:ext>
            </a:extLst>
          </p:cNvPr>
          <p:cNvCxnSpPr>
            <a:cxnSpLocks/>
          </p:cNvCxnSpPr>
          <p:nvPr/>
        </p:nvCxnSpPr>
        <p:spPr>
          <a:xfrm flipV="1">
            <a:off x="9092172" y="923291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4C2745B-4B44-7FE6-0592-D2F63F67142E}"/>
              </a:ext>
            </a:extLst>
          </p:cNvPr>
          <p:cNvSpPr txBox="1"/>
          <p:nvPr/>
        </p:nvSpPr>
        <p:spPr>
          <a:xfrm>
            <a:off x="8206940" y="53312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D36ABC-F36A-F7EB-6BD8-9FD5C3D6F79C}"/>
              </a:ext>
            </a:extLst>
          </p:cNvPr>
          <p:cNvSpPr txBox="1"/>
          <p:nvPr/>
        </p:nvSpPr>
        <p:spPr>
          <a:xfrm>
            <a:off x="9336316" y="553959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12E948-4601-1A11-67B0-B7BAE123F521}"/>
              </a:ext>
            </a:extLst>
          </p:cNvPr>
          <p:cNvSpPr txBox="1"/>
          <p:nvPr/>
        </p:nvSpPr>
        <p:spPr>
          <a:xfrm>
            <a:off x="8757090" y="1268215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943B94B-4D49-028C-62CD-2872328B9237}"/>
              </a:ext>
            </a:extLst>
          </p:cNvPr>
          <p:cNvCxnSpPr>
            <a:cxnSpLocks/>
          </p:cNvCxnSpPr>
          <p:nvPr/>
        </p:nvCxnSpPr>
        <p:spPr>
          <a:xfrm flipH="1" flipV="1">
            <a:off x="8524656" y="923291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4AD07AB-CF8A-9C21-A2BC-A5B145C6F8C6}"/>
              </a:ext>
            </a:extLst>
          </p:cNvPr>
          <p:cNvSpPr txBox="1"/>
          <p:nvPr/>
        </p:nvSpPr>
        <p:spPr>
          <a:xfrm>
            <a:off x="9274477" y="10286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6A7C44-007B-0A30-A10E-883A823A9F29}"/>
              </a:ext>
            </a:extLst>
          </p:cNvPr>
          <p:cNvSpPr txBox="1"/>
          <p:nvPr/>
        </p:nvSpPr>
        <p:spPr>
          <a:xfrm>
            <a:off x="8267918" y="105134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DABE9A-2670-E2C9-2278-B972EC3794E7}"/>
              </a:ext>
            </a:extLst>
          </p:cNvPr>
          <p:cNvSpPr txBox="1"/>
          <p:nvPr/>
        </p:nvSpPr>
        <p:spPr>
          <a:xfrm>
            <a:off x="11619764" y="540097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C47FEB-B031-C2D7-9444-7B0A6BBCA267}"/>
              </a:ext>
            </a:extLst>
          </p:cNvPr>
          <p:cNvCxnSpPr>
            <a:cxnSpLocks/>
          </p:cNvCxnSpPr>
          <p:nvPr/>
        </p:nvCxnSpPr>
        <p:spPr>
          <a:xfrm flipV="1">
            <a:off x="11397076" y="930265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13F9745-B1AC-572C-6CA6-DA99E60133F7}"/>
              </a:ext>
            </a:extLst>
          </p:cNvPr>
          <p:cNvSpPr txBox="1"/>
          <p:nvPr/>
        </p:nvSpPr>
        <p:spPr>
          <a:xfrm>
            <a:off x="10511844" y="54009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D9F146-B103-A583-DDA5-73CF830C8ED7}"/>
              </a:ext>
            </a:extLst>
          </p:cNvPr>
          <p:cNvSpPr txBox="1"/>
          <p:nvPr/>
        </p:nvSpPr>
        <p:spPr>
          <a:xfrm>
            <a:off x="11061994" y="127518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2C30DF9-E205-70B5-F7F0-6CA77DBAC08F}"/>
              </a:ext>
            </a:extLst>
          </p:cNvPr>
          <p:cNvCxnSpPr>
            <a:cxnSpLocks/>
          </p:cNvCxnSpPr>
          <p:nvPr/>
        </p:nvCxnSpPr>
        <p:spPr>
          <a:xfrm flipH="1" flipV="1">
            <a:off x="10829560" y="930265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99C8A74-DE9A-33EB-5780-F170D7C123D6}"/>
              </a:ext>
            </a:extLst>
          </p:cNvPr>
          <p:cNvSpPr txBox="1"/>
          <p:nvPr/>
        </p:nvSpPr>
        <p:spPr>
          <a:xfrm>
            <a:off x="10505174" y="10486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79DDA2-1F8B-DF81-4402-C7F60D0264A4}"/>
              </a:ext>
            </a:extLst>
          </p:cNvPr>
          <p:cNvSpPr txBox="1"/>
          <p:nvPr/>
        </p:nvSpPr>
        <p:spPr>
          <a:xfrm>
            <a:off x="11651294" y="10062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1FEB43-FC2D-0716-0E46-D5E590E25D33}"/>
              </a:ext>
            </a:extLst>
          </p:cNvPr>
          <p:cNvSpPr txBox="1"/>
          <p:nvPr/>
        </p:nvSpPr>
        <p:spPr>
          <a:xfrm>
            <a:off x="9193115" y="1236009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01C38A-71B1-0F8A-6D4A-A96CBD8DC856}"/>
              </a:ext>
            </a:extLst>
          </p:cNvPr>
          <p:cNvSpPr txBox="1"/>
          <p:nvPr/>
        </p:nvSpPr>
        <p:spPr>
          <a:xfrm>
            <a:off x="11550678" y="1215837"/>
            <a:ext cx="5389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linear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4DAD78D-30A5-CB55-0B5E-2E08FDF8F405}"/>
              </a:ext>
            </a:extLst>
          </p:cNvPr>
          <p:cNvSpPr txBox="1"/>
          <p:nvPr/>
        </p:nvSpPr>
        <p:spPr>
          <a:xfrm>
            <a:off x="8168623" y="1249641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FBB30B-2E2B-0516-251C-783EFB3D53DA}"/>
              </a:ext>
            </a:extLst>
          </p:cNvPr>
          <p:cNvSpPr txBox="1"/>
          <p:nvPr/>
        </p:nvSpPr>
        <p:spPr>
          <a:xfrm>
            <a:off x="10476772" y="1233279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cubic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7A6102-0258-7542-E568-F18A3FF02F0D}"/>
              </a:ext>
            </a:extLst>
          </p:cNvPr>
          <p:cNvCxnSpPr>
            <a:cxnSpLocks/>
          </p:cNvCxnSpPr>
          <p:nvPr/>
        </p:nvCxnSpPr>
        <p:spPr>
          <a:xfrm>
            <a:off x="801172" y="2904865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EE08284-97F9-1C85-B4A8-501A0E4F1BDC}"/>
              </a:ext>
            </a:extLst>
          </p:cNvPr>
          <p:cNvCxnSpPr>
            <a:cxnSpLocks/>
          </p:cNvCxnSpPr>
          <p:nvPr/>
        </p:nvCxnSpPr>
        <p:spPr>
          <a:xfrm flipV="1">
            <a:off x="1283334" y="3110367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A9BC5E7D-F418-B74F-04D0-9AF18412783F}"/>
              </a:ext>
            </a:extLst>
          </p:cNvPr>
          <p:cNvSpPr txBox="1"/>
          <p:nvPr/>
        </p:nvSpPr>
        <p:spPr>
          <a:xfrm>
            <a:off x="398102" y="272019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37527C7-49D6-57B3-D5E0-3422576F55F0}"/>
              </a:ext>
            </a:extLst>
          </p:cNvPr>
          <p:cNvSpPr txBox="1"/>
          <p:nvPr/>
        </p:nvSpPr>
        <p:spPr>
          <a:xfrm>
            <a:off x="1527478" y="2741035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66A358-DCC6-9E63-764F-792B7F8C5D47}"/>
              </a:ext>
            </a:extLst>
          </p:cNvPr>
          <p:cNvSpPr txBox="1"/>
          <p:nvPr/>
        </p:nvSpPr>
        <p:spPr>
          <a:xfrm>
            <a:off x="383830" y="3908165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L*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68F9945-9434-B132-EA9B-B8979B06738F}"/>
              </a:ext>
            </a:extLst>
          </p:cNvPr>
          <p:cNvCxnSpPr>
            <a:cxnSpLocks/>
          </p:cNvCxnSpPr>
          <p:nvPr/>
        </p:nvCxnSpPr>
        <p:spPr>
          <a:xfrm flipH="1" flipV="1">
            <a:off x="715818" y="3110367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8EF55F2-6DDA-7986-81D1-03586740FC83}"/>
              </a:ext>
            </a:extLst>
          </p:cNvPr>
          <p:cNvSpPr txBox="1"/>
          <p:nvPr/>
        </p:nvSpPr>
        <p:spPr>
          <a:xfrm>
            <a:off x="1465639" y="32156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2B62A8-39AF-AC2F-4446-803EF760B4CF}"/>
              </a:ext>
            </a:extLst>
          </p:cNvPr>
          <p:cNvSpPr txBox="1"/>
          <p:nvPr/>
        </p:nvSpPr>
        <p:spPr>
          <a:xfrm>
            <a:off x="459080" y="323841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94ED217-BD51-6545-A07B-7D9E2E50DEAD}"/>
              </a:ext>
            </a:extLst>
          </p:cNvPr>
          <p:cNvSpPr txBox="1"/>
          <p:nvPr/>
        </p:nvSpPr>
        <p:spPr>
          <a:xfrm>
            <a:off x="980944" y="343181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00ECCB0-B403-A6E6-37BA-17E56FB36752}"/>
              </a:ext>
            </a:extLst>
          </p:cNvPr>
          <p:cNvCxnSpPr>
            <a:cxnSpLocks/>
          </p:cNvCxnSpPr>
          <p:nvPr/>
        </p:nvCxnSpPr>
        <p:spPr>
          <a:xfrm flipH="1">
            <a:off x="715818" y="3748967"/>
            <a:ext cx="265126" cy="2281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FDC4310-D293-6047-4E8E-995DF5ECA29D}"/>
              </a:ext>
            </a:extLst>
          </p:cNvPr>
          <p:cNvCxnSpPr>
            <a:cxnSpLocks/>
          </p:cNvCxnSpPr>
          <p:nvPr/>
        </p:nvCxnSpPr>
        <p:spPr>
          <a:xfrm flipV="1">
            <a:off x="3247860" y="3060100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EFF7AB-5C35-DC85-A634-A08FA401CD54}"/>
              </a:ext>
            </a:extLst>
          </p:cNvPr>
          <p:cNvSpPr txBox="1"/>
          <p:nvPr/>
        </p:nvSpPr>
        <p:spPr>
          <a:xfrm>
            <a:off x="2362628" y="266993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FD7551-B15E-84FB-B1F7-CD67E04D2166}"/>
              </a:ext>
            </a:extLst>
          </p:cNvPr>
          <p:cNvSpPr txBox="1"/>
          <p:nvPr/>
        </p:nvSpPr>
        <p:spPr>
          <a:xfrm>
            <a:off x="3492004" y="2690768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A221D3-F22F-308D-B303-9BE7D4523C31}"/>
              </a:ext>
            </a:extLst>
          </p:cNvPr>
          <p:cNvSpPr txBox="1"/>
          <p:nvPr/>
        </p:nvSpPr>
        <p:spPr>
          <a:xfrm>
            <a:off x="2348356" y="3857898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L*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FC2FD6B-98A9-A7E8-4F7F-D727F8820536}"/>
              </a:ext>
            </a:extLst>
          </p:cNvPr>
          <p:cNvCxnSpPr>
            <a:cxnSpLocks/>
          </p:cNvCxnSpPr>
          <p:nvPr/>
        </p:nvCxnSpPr>
        <p:spPr>
          <a:xfrm flipH="1" flipV="1">
            <a:off x="2680344" y="3060100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ABFC959-F36E-C7F9-CF92-17CBB7E13EE8}"/>
              </a:ext>
            </a:extLst>
          </p:cNvPr>
          <p:cNvSpPr txBox="1"/>
          <p:nvPr/>
        </p:nvSpPr>
        <p:spPr>
          <a:xfrm>
            <a:off x="3430165" y="316541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452F3A-8EA5-EE58-52A6-1F22860461CE}"/>
              </a:ext>
            </a:extLst>
          </p:cNvPr>
          <p:cNvSpPr txBox="1"/>
          <p:nvPr/>
        </p:nvSpPr>
        <p:spPr>
          <a:xfrm>
            <a:off x="2423606" y="31881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E1EC8E-E1D1-3F7A-3E07-2ABD141263CE}"/>
              </a:ext>
            </a:extLst>
          </p:cNvPr>
          <p:cNvSpPr txBox="1"/>
          <p:nvPr/>
        </p:nvSpPr>
        <p:spPr>
          <a:xfrm>
            <a:off x="2945470" y="3381543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1EDC35C-9BE2-66BA-CD73-FD101B2453B8}"/>
              </a:ext>
            </a:extLst>
          </p:cNvPr>
          <p:cNvCxnSpPr>
            <a:cxnSpLocks/>
          </p:cNvCxnSpPr>
          <p:nvPr/>
        </p:nvCxnSpPr>
        <p:spPr>
          <a:xfrm flipH="1">
            <a:off x="2680344" y="3698700"/>
            <a:ext cx="265126" cy="2281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495F5B99-034C-CBDC-4E0B-94640863F7F1}"/>
              </a:ext>
            </a:extLst>
          </p:cNvPr>
          <p:cNvSpPr txBox="1"/>
          <p:nvPr/>
        </p:nvSpPr>
        <p:spPr>
          <a:xfrm>
            <a:off x="2035391" y="4277497"/>
            <a:ext cx="20636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L* = L for negative control analysis with no measurement error 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B634385-D89A-A3A4-CE25-8FEA5E303EBA}"/>
              </a:ext>
            </a:extLst>
          </p:cNvPr>
          <p:cNvCxnSpPr>
            <a:cxnSpLocks/>
          </p:cNvCxnSpPr>
          <p:nvPr/>
        </p:nvCxnSpPr>
        <p:spPr>
          <a:xfrm>
            <a:off x="4804692" y="2831311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0FFA234-9010-443B-B5EC-8B32150865C9}"/>
              </a:ext>
            </a:extLst>
          </p:cNvPr>
          <p:cNvCxnSpPr>
            <a:cxnSpLocks/>
          </p:cNvCxnSpPr>
          <p:nvPr/>
        </p:nvCxnSpPr>
        <p:spPr>
          <a:xfrm flipV="1">
            <a:off x="5286854" y="3036813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2FB592E8-8A81-2F00-E4CB-0B392A2C4711}"/>
              </a:ext>
            </a:extLst>
          </p:cNvPr>
          <p:cNvSpPr txBox="1"/>
          <p:nvPr/>
        </p:nvSpPr>
        <p:spPr>
          <a:xfrm>
            <a:off x="4401622" y="264664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4B5C2E-6D13-8BA7-3DFA-6A182B591A85}"/>
              </a:ext>
            </a:extLst>
          </p:cNvPr>
          <p:cNvSpPr txBox="1"/>
          <p:nvPr/>
        </p:nvSpPr>
        <p:spPr>
          <a:xfrm>
            <a:off x="5530998" y="2667481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474BC5E-179E-D846-5805-5A84EFEE1B55}"/>
              </a:ext>
            </a:extLst>
          </p:cNvPr>
          <p:cNvSpPr txBox="1"/>
          <p:nvPr/>
        </p:nvSpPr>
        <p:spPr>
          <a:xfrm>
            <a:off x="4951772" y="3381737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63619860-0D1B-7844-34A3-A3F3C499FC7A}"/>
              </a:ext>
            </a:extLst>
          </p:cNvPr>
          <p:cNvCxnSpPr>
            <a:cxnSpLocks/>
          </p:cNvCxnSpPr>
          <p:nvPr/>
        </p:nvCxnSpPr>
        <p:spPr>
          <a:xfrm flipH="1" flipV="1">
            <a:off x="4719338" y="3036813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9B3D81F2-B14A-6E4B-934C-820FBE979F6B}"/>
              </a:ext>
            </a:extLst>
          </p:cNvPr>
          <p:cNvSpPr txBox="1"/>
          <p:nvPr/>
        </p:nvSpPr>
        <p:spPr>
          <a:xfrm>
            <a:off x="4462600" y="316486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755D728-3F12-01D5-D54D-068654FE16E2}"/>
              </a:ext>
            </a:extLst>
          </p:cNvPr>
          <p:cNvSpPr txBox="1"/>
          <p:nvPr/>
        </p:nvSpPr>
        <p:spPr>
          <a:xfrm>
            <a:off x="4458872" y="3620287"/>
            <a:ext cx="1439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strong association between U and Y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039414F-B395-304A-36AA-BE992C16408D}"/>
              </a:ext>
            </a:extLst>
          </p:cNvPr>
          <p:cNvSpPr txBox="1"/>
          <p:nvPr/>
        </p:nvSpPr>
        <p:spPr>
          <a:xfrm>
            <a:off x="7559259" y="2557483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671B46A-DE8D-21B0-2509-B92919EFC74A}"/>
              </a:ext>
            </a:extLst>
          </p:cNvPr>
          <p:cNvCxnSpPr>
            <a:cxnSpLocks/>
          </p:cNvCxnSpPr>
          <p:nvPr/>
        </p:nvCxnSpPr>
        <p:spPr>
          <a:xfrm flipV="1">
            <a:off x="7336571" y="2947651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F2F4057-E8FB-ADAB-475B-A65458520740}"/>
              </a:ext>
            </a:extLst>
          </p:cNvPr>
          <p:cNvSpPr txBox="1"/>
          <p:nvPr/>
        </p:nvSpPr>
        <p:spPr>
          <a:xfrm>
            <a:off x="6451339" y="255748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1708162-B894-71A4-75BA-0774EB39AC27}"/>
              </a:ext>
            </a:extLst>
          </p:cNvPr>
          <p:cNvSpPr txBox="1"/>
          <p:nvPr/>
        </p:nvSpPr>
        <p:spPr>
          <a:xfrm>
            <a:off x="7001489" y="329257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76D424E-0DAD-F99B-2BE6-0A39D220C39A}"/>
              </a:ext>
            </a:extLst>
          </p:cNvPr>
          <p:cNvCxnSpPr>
            <a:cxnSpLocks/>
          </p:cNvCxnSpPr>
          <p:nvPr/>
        </p:nvCxnSpPr>
        <p:spPr>
          <a:xfrm flipH="1" flipV="1">
            <a:off x="6769055" y="2947651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D76A91B2-65EB-8E5D-6500-0722A539B15B}"/>
              </a:ext>
            </a:extLst>
          </p:cNvPr>
          <p:cNvSpPr txBox="1"/>
          <p:nvPr/>
        </p:nvSpPr>
        <p:spPr>
          <a:xfrm>
            <a:off x="6444669" y="30659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4D4AA0-6773-08C5-760F-98BA3D44E6FA}"/>
              </a:ext>
            </a:extLst>
          </p:cNvPr>
          <p:cNvSpPr txBox="1"/>
          <p:nvPr/>
        </p:nvSpPr>
        <p:spPr>
          <a:xfrm>
            <a:off x="7559259" y="312874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D50E4CB-4039-63C4-5B60-AA119D556986}"/>
              </a:ext>
            </a:extLst>
          </p:cNvPr>
          <p:cNvSpPr txBox="1"/>
          <p:nvPr/>
        </p:nvSpPr>
        <p:spPr>
          <a:xfrm>
            <a:off x="5442842" y="31654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FFA4833-76AB-9469-6FF7-F4A870553BC5}"/>
              </a:ext>
            </a:extLst>
          </p:cNvPr>
          <p:cNvSpPr txBox="1"/>
          <p:nvPr/>
        </p:nvSpPr>
        <p:spPr>
          <a:xfrm>
            <a:off x="6670568" y="3608942"/>
            <a:ext cx="1567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-25000" dirty="0"/>
              <a:t>weak association between U and N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A080AB5-688E-B034-7619-180F188AD825}"/>
              </a:ext>
            </a:extLst>
          </p:cNvPr>
          <p:cNvCxnSpPr>
            <a:cxnSpLocks/>
          </p:cNvCxnSpPr>
          <p:nvPr/>
        </p:nvCxnSpPr>
        <p:spPr>
          <a:xfrm>
            <a:off x="9026140" y="2815813"/>
            <a:ext cx="7048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E5DB315-C509-4624-AB19-076C070F225D}"/>
              </a:ext>
            </a:extLst>
          </p:cNvPr>
          <p:cNvCxnSpPr>
            <a:cxnSpLocks/>
          </p:cNvCxnSpPr>
          <p:nvPr/>
        </p:nvCxnSpPr>
        <p:spPr>
          <a:xfrm flipV="1">
            <a:off x="9508302" y="3021315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DC9E1C7C-D21A-A299-CA51-F69C37BEF699}"/>
              </a:ext>
            </a:extLst>
          </p:cNvPr>
          <p:cNvSpPr txBox="1"/>
          <p:nvPr/>
        </p:nvSpPr>
        <p:spPr>
          <a:xfrm>
            <a:off x="8644719" y="265524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3800359-7ED9-D8BB-5F86-AF9A2FA06DF8}"/>
              </a:ext>
            </a:extLst>
          </p:cNvPr>
          <p:cNvSpPr txBox="1"/>
          <p:nvPr/>
        </p:nvSpPr>
        <p:spPr>
          <a:xfrm>
            <a:off x="9752446" y="2651983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0F87E18-4CF0-2276-DCBA-BDBC1EB76956}"/>
              </a:ext>
            </a:extLst>
          </p:cNvPr>
          <p:cNvSpPr txBox="1"/>
          <p:nvPr/>
        </p:nvSpPr>
        <p:spPr>
          <a:xfrm>
            <a:off x="9173220" y="3366239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02A3FE2-034A-445C-530A-844A514D0278}"/>
              </a:ext>
            </a:extLst>
          </p:cNvPr>
          <p:cNvCxnSpPr>
            <a:cxnSpLocks/>
          </p:cNvCxnSpPr>
          <p:nvPr/>
        </p:nvCxnSpPr>
        <p:spPr>
          <a:xfrm flipH="1" flipV="1">
            <a:off x="8940786" y="3021315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7F4D48A-6F16-1C63-3110-A75EE003613A}"/>
              </a:ext>
            </a:extLst>
          </p:cNvPr>
          <p:cNvSpPr txBox="1"/>
          <p:nvPr/>
        </p:nvSpPr>
        <p:spPr>
          <a:xfrm>
            <a:off x="9690607" y="31266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295818B-F3BB-EBFF-037E-209B484B712C}"/>
              </a:ext>
            </a:extLst>
          </p:cNvPr>
          <p:cNvSpPr txBox="1"/>
          <p:nvPr/>
        </p:nvSpPr>
        <p:spPr>
          <a:xfrm>
            <a:off x="8684048" y="31493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524EF29-3BA7-BBAD-11A4-C79B588E7600}"/>
              </a:ext>
            </a:extLst>
          </p:cNvPr>
          <p:cNvSpPr txBox="1"/>
          <p:nvPr/>
        </p:nvSpPr>
        <p:spPr>
          <a:xfrm>
            <a:off x="11619764" y="263249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47461BD-DE0E-67BC-2A18-BD807F0BE17A}"/>
              </a:ext>
            </a:extLst>
          </p:cNvPr>
          <p:cNvCxnSpPr>
            <a:cxnSpLocks/>
          </p:cNvCxnSpPr>
          <p:nvPr/>
        </p:nvCxnSpPr>
        <p:spPr>
          <a:xfrm flipV="1">
            <a:off x="11397076" y="2996956"/>
            <a:ext cx="244144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863C8A5-4B2B-CA79-2487-CE270E0259BA}"/>
              </a:ext>
            </a:extLst>
          </p:cNvPr>
          <p:cNvSpPr txBox="1"/>
          <p:nvPr/>
        </p:nvSpPr>
        <p:spPr>
          <a:xfrm>
            <a:off x="10511844" y="26324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B86ECA1-FAAA-7D51-D0B1-1639D8C9BF8D}"/>
              </a:ext>
            </a:extLst>
          </p:cNvPr>
          <p:cNvSpPr txBox="1"/>
          <p:nvPr/>
        </p:nvSpPr>
        <p:spPr>
          <a:xfrm>
            <a:off x="11061994" y="334188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</a:t>
            </a:r>
            <a:endParaRPr lang="en-US" baseline="-25000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7E2621ED-B49F-BC96-BC46-9E41171C1ECF}"/>
              </a:ext>
            </a:extLst>
          </p:cNvPr>
          <p:cNvCxnSpPr>
            <a:cxnSpLocks/>
          </p:cNvCxnSpPr>
          <p:nvPr/>
        </p:nvCxnSpPr>
        <p:spPr>
          <a:xfrm flipH="1" flipV="1">
            <a:off x="10829560" y="2996956"/>
            <a:ext cx="218826" cy="344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8A844875-06D6-88CE-A224-910C5FB689FC}"/>
              </a:ext>
            </a:extLst>
          </p:cNvPr>
          <p:cNvSpPr txBox="1"/>
          <p:nvPr/>
        </p:nvSpPr>
        <p:spPr>
          <a:xfrm>
            <a:off x="10505174" y="311530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93D2900-A132-1F83-D63E-3034050519C1}"/>
              </a:ext>
            </a:extLst>
          </p:cNvPr>
          <p:cNvSpPr txBox="1"/>
          <p:nvPr/>
        </p:nvSpPr>
        <p:spPr>
          <a:xfrm>
            <a:off x="11619764" y="3178050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AB406-5B94-4E7A-7693-DB5C39E72345}"/>
              </a:ext>
            </a:extLst>
          </p:cNvPr>
          <p:cNvSpPr txBox="1"/>
          <p:nvPr/>
        </p:nvSpPr>
        <p:spPr>
          <a:xfrm>
            <a:off x="121775" y="4291721"/>
            <a:ext cx="20636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L* is approximately L with measurement error </a:t>
            </a:r>
          </a:p>
        </p:txBody>
      </p:sp>
    </p:spTree>
    <p:extLst>
      <p:ext uri="{BB962C8B-B14F-4D97-AF65-F5344CB8AC3E}">
        <p14:creationId xmlns:p14="http://schemas.microsoft.com/office/powerpoint/2010/main" val="2087427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471</Words>
  <Application>Microsoft Macintosh PowerPoint</Application>
  <PresentationFormat>Widescreen</PresentationFormat>
  <Paragraphs>318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Heather M</dc:creator>
  <cp:lastModifiedBy>Heather M</cp:lastModifiedBy>
  <cp:revision>51</cp:revision>
  <dcterms:created xsi:type="dcterms:W3CDTF">2025-04-14T22:50:22Z</dcterms:created>
  <dcterms:modified xsi:type="dcterms:W3CDTF">2025-10-13T22:43:21Z</dcterms:modified>
</cp:coreProperties>
</file>